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media/image13.png" ContentType="image/png"/>
  <Override PartName="/ppt/media/image4.png" ContentType="image/png"/>
  <Override PartName="/ppt/media/image9.png" ContentType="image/png"/>
  <Override PartName="/ppt/media/image18.png" ContentType="image/png"/>
  <Override PartName="/ppt/media/image20.png" ContentType="image/png"/>
  <Override PartName="/ppt/media/image12.png" ContentType="image/png"/>
  <Override PartName="/ppt/media/image3.png" ContentType="image/png"/>
  <Override PartName="/ppt/media/image8.png" ContentType="image/png"/>
  <Override PartName="/ppt/media/image17.png" ContentType="image/png"/>
  <Override PartName="/ppt/media/image11.png" ContentType="image/png"/>
  <Override PartName="/ppt/media/image2.png" ContentType="image/png"/>
  <Override PartName="/ppt/media/image24.png" ContentType="image/png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5.png" ContentType="image/png"/>
  <Override PartName="/ppt/media/image14.png" ContentType="image/png"/>
  <Override PartName="/ppt/media/image6.png" ContentType="image/png"/>
  <Override PartName="/ppt/media/image15.png" ContentType="image/png"/>
  <Override PartName="/ppt/media/image10.png" ContentType="image/png"/>
  <Override PartName="/ppt/media/image1.png" ContentType="image/png"/>
  <Override PartName="/ppt/media/image7.png" ContentType="image/png"/>
  <Override PartName="/ppt/media/image16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.xml.rels" ContentType="application/vnd.openxmlformats-package.relationships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</p:sldMasterIdLst>
  <p:notesMasterIdLst>
    <p:notesMasterId r:id="rId11"/>
  </p:notes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</p:sld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0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s-CO" sz="4400" spc="-1" strike="noStrike">
                <a:solidFill>
                  <a:srgbClr val="000000"/>
                </a:solidFill>
                <a:latin typeface="Arial"/>
              </a:rPr>
              <a:t>Pulse para desplazar la diapositiva</a:t>
            </a:r>
            <a:endParaRPr b="0" lang="es-CO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s-CO" sz="2000" spc="-1" strike="noStrike">
                <a:solidFill>
                  <a:srgbClr val="000000"/>
                </a:solidFill>
                <a:latin typeface="Arial"/>
              </a:rPr>
              <a:t>Pulse para editar el formato de las notas</a:t>
            </a:r>
            <a:endParaRPr b="0" lang="es-CO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s-CO" sz="1400" spc="-1" strike="noStrike">
                <a:solidFill>
                  <a:srgbClr val="000000"/>
                </a:solidFill>
                <a:latin typeface="Times New Roman"/>
              </a:rPr>
              <a:t>&lt;cabecera&gt;</a:t>
            </a:r>
            <a:endParaRPr b="0" lang="es-CO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s-CO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s-CO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CO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s-CO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CO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CO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s-CO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83666B32-6A88-45EC-8286-9CBC189A46A8}" type="slidenum">
              <a:rPr b="0" lang="es-CO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CO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360" cy="360"/>
          </a:xfrm>
          <a:prstGeom prst="rect">
            <a:avLst/>
          </a:prstGeom>
          <a:ln w="0">
            <a:noFill/>
          </a:ln>
        </p:spPr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s-CO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CO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C3D1488-D87C-4188-B4BB-216A1C3598A0}" type="slidenum">
              <a:rPr b="0" lang="es-CO" sz="18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CO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360" cy="360"/>
          </a:xfrm>
          <a:prstGeom prst="rect">
            <a:avLst/>
          </a:prstGeom>
          <a:ln w="0">
            <a:noFill/>
          </a:ln>
        </p:spPr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s-CO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CO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0D4DE5F-F0CF-4043-8B04-FE8B62821D3F}" type="slidenum">
              <a:rPr b="0" lang="es-CO" sz="18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CO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360" cy="360"/>
          </a:xfrm>
          <a:prstGeom prst="rect">
            <a:avLst/>
          </a:prstGeom>
          <a:ln w="0">
            <a:noFill/>
          </a:ln>
        </p:spPr>
      </p:sp>
      <p:sp>
        <p:nvSpPr>
          <p:cNvPr id="17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s-CO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CO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B32AD78-9444-408D-8F50-C109DE186B4E}" type="slidenum">
              <a:rPr b="0" lang="es-CO" sz="18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CO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360" cy="360"/>
          </a:xfrm>
          <a:prstGeom prst="rect">
            <a:avLst/>
          </a:prstGeom>
          <a:ln w="0">
            <a:noFill/>
          </a:ln>
        </p:spPr>
      </p:sp>
      <p:sp>
        <p:nvSpPr>
          <p:cNvPr id="17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s-CO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CO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4AD2460-640B-44C2-A019-FE9B76F981F5}" type="slidenum">
              <a:rPr b="0" lang="es-CO" sz="18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CO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360" cy="360"/>
          </a:xfrm>
          <a:prstGeom prst="rect">
            <a:avLst/>
          </a:prstGeom>
          <a:ln w="0">
            <a:noFill/>
          </a:ln>
        </p:spPr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s-CO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CO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C5DE85C-485E-4AD3-8D57-D0FB45DC8AF1}" type="slidenum">
              <a:rPr b="0" lang="es-CO" sz="18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CO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360" cy="360"/>
          </a:xfrm>
          <a:prstGeom prst="rect">
            <a:avLst/>
          </a:prstGeom>
          <a:ln w="0">
            <a:noFill/>
          </a:ln>
        </p:spPr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s-CO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CO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DC5087F-A120-494B-90D1-1AF6DDB04761}" type="slidenum">
              <a:rPr b="0" lang="es-CO" sz="18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CO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360" cy="360"/>
          </a:xfrm>
          <a:prstGeom prst="rect">
            <a:avLst/>
          </a:prstGeom>
          <a:ln w="0">
            <a:noFill/>
          </a:ln>
        </p:spPr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s-CO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CO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B853EFD-A7D3-48F8-AADF-0982CAED907B}" type="slidenum">
              <a:rPr b="0" lang="es-CO" sz="18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CO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360" cy="360"/>
          </a:xfrm>
          <a:prstGeom prst="rect">
            <a:avLst/>
          </a:prstGeom>
          <a:ln w="0">
            <a:noFill/>
          </a:ln>
        </p:spPr>
      </p:sp>
      <p:sp>
        <p:nvSpPr>
          <p:cNvPr id="18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s-CO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CO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A1F8B27-C0AB-4A3C-A28E-8A2D691620D4}" type="slidenum">
              <a:rPr b="0" lang="es-CO" sz="18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CO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360" cy="360"/>
          </a:xfrm>
          <a:prstGeom prst="rect">
            <a:avLst/>
          </a:prstGeom>
          <a:ln w="0">
            <a:noFill/>
          </a:ln>
        </p:spPr>
      </p:sp>
      <p:sp>
        <p:nvSpPr>
          <p:cNvPr id="19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s-CO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CO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644DCDE-B2B8-478B-88AC-C8D6405244A5}" type="slidenum">
              <a:rPr b="0" lang="es-CO" sz="18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CO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9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hape 0"/>
          <p:cNvSpPr/>
          <p:nvPr/>
        </p:nvSpPr>
        <p:spPr>
          <a:xfrm>
            <a:off x="0" y="0"/>
            <a:ext cx="14629320" cy="8228520"/>
          </a:xfrm>
          <a:prstGeom prst="rect">
            <a:avLst/>
          </a:prstGeom>
          <a:solidFill>
            <a:srgbClr val="282c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1" name="Shape 1"/>
          <p:cNvSpPr/>
          <p:nvPr/>
        </p:nvSpPr>
        <p:spPr>
          <a:xfrm>
            <a:off x="0" y="0"/>
            <a:ext cx="14629320" cy="8228520"/>
          </a:xfrm>
          <a:prstGeom prst="rect">
            <a:avLst/>
          </a:prstGeom>
          <a:solidFill>
            <a:srgbClr val="282c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rial"/>
            </a:endParaRPr>
          </a:p>
        </p:txBody>
      </p:sp>
      <p:pic>
        <p:nvPicPr>
          <p:cNvPr id="2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1520" cy="410400"/>
          </a:xfrm>
          <a:prstGeom prst="rect">
            <a:avLst/>
          </a:prstGeom>
          <a:ln w="0">
            <a:noFill/>
          </a:ln>
          <a:effectLst>
            <a:outerShdw blurRad="0" dir="2700000" dist="101823" rotWithShape="0">
              <a:srgbClr val="000000"/>
            </a:outerShdw>
          </a:effectLst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CO" sz="44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CO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CO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CO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CO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CO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CO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CO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CO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/>
          <p:cNvSpPr/>
          <p:nvPr/>
        </p:nvSpPr>
        <p:spPr>
          <a:xfrm>
            <a:off x="0" y="0"/>
            <a:ext cx="14629320" cy="8228520"/>
          </a:xfrm>
          <a:prstGeom prst="rect">
            <a:avLst/>
          </a:prstGeom>
          <a:solidFill>
            <a:srgbClr val="282c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6" name="Shape 1"/>
          <p:cNvSpPr/>
          <p:nvPr/>
        </p:nvSpPr>
        <p:spPr>
          <a:xfrm>
            <a:off x="0" y="0"/>
            <a:ext cx="14629320" cy="8228520"/>
          </a:xfrm>
          <a:prstGeom prst="rect">
            <a:avLst/>
          </a:prstGeom>
          <a:solidFill>
            <a:srgbClr val="282c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rial"/>
            </a:endParaRPr>
          </a:p>
        </p:txBody>
      </p:sp>
      <p:pic>
        <p:nvPicPr>
          <p:cNvPr id="7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1520" cy="410400"/>
          </a:xfrm>
          <a:prstGeom prst="rect">
            <a:avLst/>
          </a:prstGeom>
          <a:ln w="0">
            <a:noFill/>
          </a:ln>
          <a:effectLst>
            <a:outerShdw blurRad="0" dir="2700000" dist="101823" rotWithShape="0">
              <a:srgbClr val="000000"/>
            </a:outerShdw>
          </a:effectLst>
        </p:spPr>
      </p:pic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CO" sz="44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CO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CO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CO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CO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CO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CO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CO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CO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14629320" cy="8228520"/>
          </a:xfrm>
          <a:prstGeom prst="rect">
            <a:avLst/>
          </a:prstGeom>
          <a:solidFill>
            <a:srgbClr val="282c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0" y="0"/>
            <a:ext cx="14629320" cy="8228520"/>
          </a:xfrm>
          <a:prstGeom prst="rect">
            <a:avLst/>
          </a:prstGeom>
          <a:solidFill>
            <a:srgbClr val="282c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rial"/>
            </a:endParaRPr>
          </a:p>
        </p:txBody>
      </p:sp>
      <p:pic>
        <p:nvPicPr>
          <p:cNvPr id="12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1520" cy="410400"/>
          </a:xfrm>
          <a:prstGeom prst="rect">
            <a:avLst/>
          </a:prstGeom>
          <a:ln w="0">
            <a:noFill/>
          </a:ln>
          <a:effectLst>
            <a:outerShdw blurRad="0" dir="2700000" dist="101823" rotWithShape="0">
              <a:srgbClr val="000000"/>
            </a:outerShdw>
          </a:effectLst>
        </p:spPr>
      </p:pic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CO" sz="44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CO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CO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CO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CO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CO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CO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CO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CO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4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0"/>
          <p:cNvSpPr/>
          <p:nvPr/>
        </p:nvSpPr>
        <p:spPr>
          <a:xfrm>
            <a:off x="0" y="0"/>
            <a:ext cx="14629320" cy="8228520"/>
          </a:xfrm>
          <a:prstGeom prst="rect">
            <a:avLst/>
          </a:prstGeom>
          <a:solidFill>
            <a:srgbClr val="282c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16" name="Shape 1"/>
          <p:cNvSpPr/>
          <p:nvPr/>
        </p:nvSpPr>
        <p:spPr>
          <a:xfrm>
            <a:off x="0" y="0"/>
            <a:ext cx="14629320" cy="8228520"/>
          </a:xfrm>
          <a:prstGeom prst="rect">
            <a:avLst/>
          </a:prstGeom>
          <a:solidFill>
            <a:srgbClr val="282c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rial"/>
            </a:endParaRPr>
          </a:p>
        </p:txBody>
      </p:sp>
      <p:pic>
        <p:nvPicPr>
          <p:cNvPr id="17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1520" cy="410400"/>
          </a:xfrm>
          <a:prstGeom prst="rect">
            <a:avLst/>
          </a:prstGeom>
          <a:ln w="0">
            <a:noFill/>
          </a:ln>
          <a:effectLst>
            <a:outerShdw blurRad="0" dir="2700000" dist="101823" rotWithShape="0">
              <a:srgbClr val="000000"/>
            </a:outerShdw>
          </a:effectLst>
        </p:spPr>
      </p:pic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CO" sz="44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CO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CO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CO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CO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CO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CO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CO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CO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4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0" y="0"/>
            <a:ext cx="14629320" cy="8228520"/>
          </a:xfrm>
          <a:prstGeom prst="rect">
            <a:avLst/>
          </a:prstGeom>
          <a:solidFill>
            <a:srgbClr val="282c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21" name="Shape 1"/>
          <p:cNvSpPr/>
          <p:nvPr/>
        </p:nvSpPr>
        <p:spPr>
          <a:xfrm>
            <a:off x="0" y="0"/>
            <a:ext cx="14629320" cy="8228520"/>
          </a:xfrm>
          <a:prstGeom prst="rect">
            <a:avLst/>
          </a:prstGeom>
          <a:solidFill>
            <a:srgbClr val="282c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rial"/>
            </a:endParaRPr>
          </a:p>
        </p:txBody>
      </p:sp>
      <p:pic>
        <p:nvPicPr>
          <p:cNvPr id="22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1520" cy="410400"/>
          </a:xfrm>
          <a:prstGeom prst="rect">
            <a:avLst/>
          </a:prstGeom>
          <a:ln w="0">
            <a:noFill/>
          </a:ln>
          <a:effectLst>
            <a:outerShdw blurRad="0" dir="2700000" dist="101823" rotWithShape="0">
              <a:srgbClr val="000000"/>
            </a:outerShdw>
          </a:effectLst>
        </p:spPr>
      </p:pic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CO" sz="44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CO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CO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CO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CO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CO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CO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CO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CO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4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0"/>
          <p:cNvSpPr/>
          <p:nvPr/>
        </p:nvSpPr>
        <p:spPr>
          <a:xfrm>
            <a:off x="0" y="0"/>
            <a:ext cx="14629320" cy="8228520"/>
          </a:xfrm>
          <a:prstGeom prst="rect">
            <a:avLst/>
          </a:prstGeom>
          <a:solidFill>
            <a:srgbClr val="282c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26" name="Shape 1"/>
          <p:cNvSpPr/>
          <p:nvPr/>
        </p:nvSpPr>
        <p:spPr>
          <a:xfrm>
            <a:off x="0" y="0"/>
            <a:ext cx="14629320" cy="8228520"/>
          </a:xfrm>
          <a:prstGeom prst="rect">
            <a:avLst/>
          </a:prstGeom>
          <a:solidFill>
            <a:srgbClr val="282c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rial"/>
            </a:endParaRPr>
          </a:p>
        </p:txBody>
      </p:sp>
      <p:pic>
        <p:nvPicPr>
          <p:cNvPr id="27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1520" cy="410400"/>
          </a:xfrm>
          <a:prstGeom prst="rect">
            <a:avLst/>
          </a:prstGeom>
          <a:ln w="0">
            <a:noFill/>
          </a:ln>
          <a:effectLst>
            <a:outerShdw blurRad="0" dir="2700000" dist="101823" rotWithShape="0">
              <a:srgbClr val="000000"/>
            </a:outerShdw>
          </a:effectLst>
        </p:spPr>
      </p:pic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CO" sz="44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CO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CO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CO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CO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CO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CO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CO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CO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4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0"/>
          <p:cNvSpPr/>
          <p:nvPr/>
        </p:nvSpPr>
        <p:spPr>
          <a:xfrm>
            <a:off x="0" y="0"/>
            <a:ext cx="14629320" cy="8228520"/>
          </a:xfrm>
          <a:prstGeom prst="rect">
            <a:avLst/>
          </a:prstGeom>
          <a:solidFill>
            <a:srgbClr val="282c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31" name="Shape 1"/>
          <p:cNvSpPr/>
          <p:nvPr/>
        </p:nvSpPr>
        <p:spPr>
          <a:xfrm>
            <a:off x="0" y="0"/>
            <a:ext cx="14629320" cy="8228520"/>
          </a:xfrm>
          <a:prstGeom prst="rect">
            <a:avLst/>
          </a:prstGeom>
          <a:solidFill>
            <a:srgbClr val="282c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rial"/>
            </a:endParaRPr>
          </a:p>
        </p:txBody>
      </p:sp>
      <p:pic>
        <p:nvPicPr>
          <p:cNvPr id="32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1520" cy="410400"/>
          </a:xfrm>
          <a:prstGeom prst="rect">
            <a:avLst/>
          </a:prstGeom>
          <a:ln w="0">
            <a:noFill/>
          </a:ln>
          <a:effectLst>
            <a:outerShdw blurRad="0" dir="2700000" dist="101823" rotWithShape="0">
              <a:srgbClr val="000000"/>
            </a:outerShdw>
          </a:effectLst>
        </p:spPr>
      </p:pic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CO" sz="44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CO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CO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CO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CO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CO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CO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CO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CO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4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0"/>
          <p:cNvSpPr/>
          <p:nvPr/>
        </p:nvSpPr>
        <p:spPr>
          <a:xfrm>
            <a:off x="0" y="0"/>
            <a:ext cx="14629320" cy="8228520"/>
          </a:xfrm>
          <a:prstGeom prst="rect">
            <a:avLst/>
          </a:prstGeom>
          <a:solidFill>
            <a:srgbClr val="282c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36" name="Shape 1"/>
          <p:cNvSpPr/>
          <p:nvPr/>
        </p:nvSpPr>
        <p:spPr>
          <a:xfrm>
            <a:off x="0" y="0"/>
            <a:ext cx="14629320" cy="8228520"/>
          </a:xfrm>
          <a:prstGeom prst="rect">
            <a:avLst/>
          </a:prstGeom>
          <a:solidFill>
            <a:srgbClr val="282c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rial"/>
            </a:endParaRPr>
          </a:p>
        </p:txBody>
      </p:sp>
      <p:pic>
        <p:nvPicPr>
          <p:cNvPr id="37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1520" cy="410400"/>
          </a:xfrm>
          <a:prstGeom prst="rect">
            <a:avLst/>
          </a:prstGeom>
          <a:ln w="0">
            <a:noFill/>
          </a:ln>
          <a:effectLst>
            <a:outerShdw blurRad="0" dir="2700000" dist="101823" rotWithShape="0">
              <a:srgbClr val="000000"/>
            </a:outerShdw>
          </a:effectLst>
        </p:spPr>
      </p:pic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CO" sz="44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CO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CO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CO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CO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CO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CO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CO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CO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slideLayout" Target="../slideLayouts/slideLayout7.xml"/><Relationship Id="rId7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slideLayout" Target="../slideLayouts/slideLayout8.xml"/><Relationship Id="rId8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CuadroTexto 4"/>
          <p:cNvSpPr/>
          <p:nvPr/>
        </p:nvSpPr>
        <p:spPr>
          <a:xfrm>
            <a:off x="0" y="7701480"/>
            <a:ext cx="14629320" cy="398160"/>
          </a:xfrm>
          <a:prstGeom prst="rect">
            <a:avLst/>
          </a:prstGeom>
          <a:solidFill>
            <a:srgbClr val="7030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s-CO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CuadroTexto 1"/>
          <p:cNvSpPr/>
          <p:nvPr/>
        </p:nvSpPr>
        <p:spPr>
          <a:xfrm>
            <a:off x="0" y="4314240"/>
            <a:ext cx="14629320" cy="2498040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ts val="5601"/>
              </a:lnSpc>
            </a:pPr>
            <a:r>
              <a:rPr b="1" lang="es-CO" sz="4450" spc="-1" strike="noStrike">
                <a:solidFill>
                  <a:srgbClr val="9998ff"/>
                </a:solidFill>
                <a:latin typeface="comic"/>
                <a:ea typeface="Barlow Bold"/>
              </a:rPr>
              <a:t>GRÁFICO DE BARRAS APILADAS</a:t>
            </a:r>
            <a:endParaRPr b="0" lang="es-CO" sz="44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ts val="5601"/>
              </a:lnSpc>
            </a:pPr>
            <a:r>
              <a:rPr b="1" lang="es-CO" sz="4450" spc="-1" strike="noStrike">
                <a:solidFill>
                  <a:srgbClr val="9998ff"/>
                </a:solidFill>
                <a:latin typeface="comic"/>
                <a:ea typeface="Barlow Bold"/>
              </a:rPr>
              <a:t>DUVAN ANDRES FLORIAN SALAZAR</a:t>
            </a:r>
            <a:endParaRPr b="0" lang="es-CO" sz="44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ts val="5601"/>
              </a:lnSpc>
            </a:pPr>
            <a:r>
              <a:rPr b="1" lang="es-CO" sz="4450" spc="-1" strike="noStrike">
                <a:solidFill>
                  <a:srgbClr val="9998ff"/>
                </a:solidFill>
                <a:latin typeface="comic"/>
                <a:ea typeface="Barlow Bold"/>
              </a:rPr>
              <a:t>Electiva</a:t>
            </a:r>
            <a:endParaRPr b="0" lang="es-CO" sz="44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s-CO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CuadroTexto 8"/>
          <p:cNvSpPr/>
          <p:nvPr/>
        </p:nvSpPr>
        <p:spPr>
          <a:xfrm>
            <a:off x="5486400" y="7701480"/>
            <a:ext cx="9142920" cy="398160"/>
          </a:xfrm>
          <a:prstGeom prst="rect">
            <a:avLst/>
          </a:prstGeom>
          <a:solidFill>
            <a:srgbClr val="7030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s-CO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49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5485320" cy="8228520"/>
          </a:xfrm>
          <a:prstGeom prst="rect">
            <a:avLst/>
          </a:prstGeom>
          <a:ln w="0">
            <a:noFill/>
          </a:ln>
          <a:effectLst>
            <a:outerShdw blurRad="0" dir="2700000" dist="101823" rotWithShape="0">
              <a:srgbClr val="000000"/>
            </a:outerShdw>
          </a:effectLst>
        </p:spPr>
      </p:pic>
      <p:sp>
        <p:nvSpPr>
          <p:cNvPr id="50" name="Text 0"/>
          <p:cNvSpPr/>
          <p:nvPr/>
        </p:nvSpPr>
        <p:spPr>
          <a:xfrm>
            <a:off x="6244560" y="2234520"/>
            <a:ext cx="7626240" cy="218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5601"/>
              </a:lnSpc>
              <a:tabLst>
                <a:tab algn="l" pos="0"/>
              </a:tabLst>
            </a:pPr>
            <a:r>
              <a:rPr b="1" lang="es-CO" sz="4450" spc="-1" strike="noStrike">
                <a:solidFill>
                  <a:srgbClr val="9998ff"/>
                </a:solidFill>
                <a:latin typeface="comic"/>
                <a:ea typeface="Barlow Bold"/>
              </a:rPr>
              <a:t>Gráficos de Barras Apiladas: Una Guía Visual</a:t>
            </a:r>
            <a:endParaRPr b="0" lang="es-CO" sz="4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1"/>
          <p:cNvSpPr/>
          <p:nvPr/>
        </p:nvSpPr>
        <p:spPr>
          <a:xfrm>
            <a:off x="6244560" y="4549320"/>
            <a:ext cx="7626240" cy="13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701"/>
              </a:lnSpc>
              <a:tabLst>
                <a:tab algn="l" pos="0"/>
              </a:tabLst>
            </a:pPr>
            <a:r>
              <a:rPr b="0" lang="es-CO" sz="1700" spc="-1" strike="noStrike">
                <a:solidFill>
                  <a:srgbClr val="eeeff5"/>
                </a:solidFill>
                <a:latin typeface="Montserrat"/>
                <a:ea typeface="Montserrat"/>
              </a:rPr>
              <a:t>Descubre cómo los gráficos de barras apiladas transforman datos complejos en narrativas visuales claras y atractivas. Esta presentación te guiará a través de sus fundamentos, usos y aplicaciones prácticas en herramientas como Excel y Power BI.</a:t>
            </a:r>
            <a:endParaRPr b="0" lang="es-CO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 0"/>
          <p:cNvSpPr/>
          <p:nvPr/>
        </p:nvSpPr>
        <p:spPr>
          <a:xfrm>
            <a:off x="758160" y="2215440"/>
            <a:ext cx="11926440" cy="7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5601"/>
              </a:lnSpc>
            </a:pPr>
            <a:r>
              <a:rPr b="1" lang="es-CO" sz="4450" spc="-1" strike="noStrike">
                <a:solidFill>
                  <a:srgbClr val="9998ff"/>
                </a:solidFill>
                <a:latin typeface="comic"/>
                <a:ea typeface="Barlow Bold"/>
              </a:rPr>
              <a:t>¿Qué es un Gráfico de Barras Apiladas?</a:t>
            </a:r>
            <a:endParaRPr b="0" lang="es-CO" sz="4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1"/>
          <p:cNvSpPr/>
          <p:nvPr/>
        </p:nvSpPr>
        <p:spPr>
          <a:xfrm>
            <a:off x="758160" y="3469680"/>
            <a:ext cx="284976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801"/>
              </a:lnSpc>
              <a:tabLst>
                <a:tab algn="l" pos="0"/>
              </a:tabLst>
            </a:pPr>
            <a:r>
              <a:rPr b="1" lang="es-CO" sz="2200" spc="-1" strike="noStrike">
                <a:solidFill>
                  <a:srgbClr val="9998ff"/>
                </a:solidFill>
                <a:latin typeface="comic"/>
                <a:ea typeface="Barlow Bold"/>
              </a:rPr>
              <a:t>Definición</a:t>
            </a:r>
            <a:endParaRPr b="0" lang="es-CO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2"/>
          <p:cNvSpPr/>
          <p:nvPr/>
        </p:nvSpPr>
        <p:spPr>
          <a:xfrm>
            <a:off x="758160" y="4042440"/>
            <a:ext cx="6291360" cy="69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701"/>
              </a:lnSpc>
              <a:tabLst>
                <a:tab algn="l" pos="0"/>
              </a:tabLst>
            </a:pPr>
            <a:r>
              <a:rPr b="0" lang="es-CO" sz="1700" spc="-1" strike="noStrike">
                <a:solidFill>
                  <a:srgbClr val="eeeff5"/>
                </a:solidFill>
                <a:latin typeface="Montserrat"/>
                <a:ea typeface="Montserrat"/>
              </a:rPr>
              <a:t>Un gráfico de barras apiladas es una herramienta de visualización de datos.</a:t>
            </a:r>
            <a:endParaRPr b="0" lang="es-CO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 3"/>
          <p:cNvSpPr/>
          <p:nvPr/>
        </p:nvSpPr>
        <p:spPr>
          <a:xfrm>
            <a:off x="758160" y="4930920"/>
            <a:ext cx="62913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701"/>
              </a:lnSpc>
              <a:tabLst>
                <a:tab algn="l" pos="0"/>
              </a:tabLst>
            </a:pPr>
            <a:r>
              <a:rPr b="0" lang="es-CO" sz="1700" spc="-1" strike="noStrike">
                <a:solidFill>
                  <a:srgbClr val="eeeff5"/>
                </a:solidFill>
                <a:latin typeface="Montserrat"/>
                <a:ea typeface="Montserrat"/>
              </a:rPr>
              <a:t>Representa las partes de un todo en una única barra.</a:t>
            </a:r>
            <a:endParaRPr b="0" lang="es-CO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4"/>
          <p:cNvSpPr/>
          <p:nvPr/>
        </p:nvSpPr>
        <p:spPr>
          <a:xfrm>
            <a:off x="7587000" y="3469680"/>
            <a:ext cx="284976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801"/>
              </a:lnSpc>
              <a:tabLst>
                <a:tab algn="l" pos="0"/>
              </a:tabLst>
            </a:pPr>
            <a:r>
              <a:rPr b="1" lang="es-CO" sz="2200" spc="-1" strike="noStrike">
                <a:solidFill>
                  <a:srgbClr val="9998ff"/>
                </a:solidFill>
                <a:latin typeface="comic"/>
                <a:ea typeface="Barlow Bold"/>
              </a:rPr>
              <a:t>Componentes</a:t>
            </a:r>
            <a:endParaRPr b="0" lang="es-CO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5"/>
          <p:cNvSpPr/>
          <p:nvPr/>
        </p:nvSpPr>
        <p:spPr>
          <a:xfrm>
            <a:off x="7587000" y="4042440"/>
            <a:ext cx="62913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701"/>
              </a:lnSpc>
              <a:tabLst>
                <a:tab algn="l" pos="0"/>
              </a:tabLst>
            </a:pPr>
            <a:r>
              <a:rPr b="0" lang="es-CO" sz="1700" spc="-1" strike="noStrike">
                <a:solidFill>
                  <a:srgbClr val="eeeff5"/>
                </a:solidFill>
                <a:latin typeface="Montserrat"/>
                <a:ea typeface="Montserrat"/>
              </a:rPr>
              <a:t>Cada barra se divide en segmentos de colores.</a:t>
            </a:r>
            <a:endParaRPr b="0" lang="es-CO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 6"/>
          <p:cNvSpPr/>
          <p:nvPr/>
        </p:nvSpPr>
        <p:spPr>
          <a:xfrm>
            <a:off x="7587000" y="4584240"/>
            <a:ext cx="62913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701"/>
              </a:lnSpc>
              <a:tabLst>
                <a:tab algn="l" pos="0"/>
              </a:tabLst>
            </a:pPr>
            <a:r>
              <a:rPr b="0" lang="es-CO" sz="1700" spc="-1" strike="noStrike">
                <a:solidFill>
                  <a:srgbClr val="eeeff5"/>
                </a:solidFill>
                <a:latin typeface="Montserrat"/>
                <a:ea typeface="Montserrat"/>
              </a:rPr>
              <a:t>Los segmentos representan categorías individuales.</a:t>
            </a:r>
            <a:endParaRPr b="0" lang="es-CO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7"/>
          <p:cNvSpPr/>
          <p:nvPr/>
        </p:nvSpPr>
        <p:spPr>
          <a:xfrm>
            <a:off x="7587000" y="5125680"/>
            <a:ext cx="6291360" cy="69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701"/>
              </a:lnSpc>
              <a:tabLst>
                <a:tab algn="l" pos="0"/>
              </a:tabLst>
            </a:pPr>
            <a:r>
              <a:rPr b="0" lang="es-CO" sz="1700" spc="-1" strike="noStrike">
                <a:solidFill>
                  <a:srgbClr val="eeeff5"/>
                </a:solidFill>
                <a:latin typeface="Montserrat"/>
                <a:ea typeface="Montserrat"/>
              </a:rPr>
              <a:t>La longitud total de la barra muestra la suma de los segmentos.</a:t>
            </a:r>
            <a:endParaRPr b="0" lang="es-CO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CuadroTexto 9"/>
          <p:cNvSpPr/>
          <p:nvPr/>
        </p:nvSpPr>
        <p:spPr>
          <a:xfrm>
            <a:off x="0" y="7701480"/>
            <a:ext cx="14629320" cy="398160"/>
          </a:xfrm>
          <a:prstGeom prst="rect">
            <a:avLst/>
          </a:prstGeom>
          <a:solidFill>
            <a:srgbClr val="7030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s-CO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 15"/>
          <p:cNvSpPr/>
          <p:nvPr/>
        </p:nvSpPr>
        <p:spPr>
          <a:xfrm>
            <a:off x="853560" y="1448280"/>
            <a:ext cx="11926440" cy="7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5601"/>
              </a:lnSpc>
            </a:pPr>
            <a:r>
              <a:rPr b="1" lang="es-CO" sz="4450" spc="-1" strike="noStrike">
                <a:solidFill>
                  <a:srgbClr val="9998ff"/>
                </a:solidFill>
                <a:latin typeface="comic"/>
                <a:ea typeface="Barlow Bold"/>
              </a:rPr>
              <a:t>Tipos de </a:t>
            </a:r>
            <a:r>
              <a:rPr b="1" lang="es-CO" sz="4450" spc="-1" strike="noStrike">
                <a:solidFill>
                  <a:srgbClr val="9998ff"/>
                </a:solidFill>
                <a:latin typeface="comic"/>
                <a:ea typeface="Barlow Bold"/>
              </a:rPr>
              <a:t>barras </a:t>
            </a:r>
            <a:r>
              <a:rPr b="1" lang="es-CO" sz="4450" spc="-1" strike="noStrike">
                <a:solidFill>
                  <a:srgbClr val="9998ff"/>
                </a:solidFill>
                <a:latin typeface="comic"/>
                <a:ea typeface="Barlow Bold"/>
              </a:rPr>
              <a:t>Apiladas</a:t>
            </a:r>
            <a:endParaRPr b="0" lang="es-CO" sz="4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CuadroTexto 2"/>
          <p:cNvSpPr/>
          <p:nvPr/>
        </p:nvSpPr>
        <p:spPr>
          <a:xfrm>
            <a:off x="0" y="7701480"/>
            <a:ext cx="14629320" cy="398160"/>
          </a:xfrm>
          <a:prstGeom prst="rect">
            <a:avLst/>
          </a:prstGeom>
          <a:solidFill>
            <a:srgbClr val="7030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endParaRPr b="0" lang="es-CO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900000" y="3060000"/>
            <a:ext cx="9360000" cy="324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defTabSz="914400">
              <a:lnSpc>
                <a:spcPts val="2701"/>
              </a:lnSpc>
              <a:tabLst>
                <a:tab algn="l" pos="0"/>
              </a:tabLst>
            </a:pPr>
            <a:endParaRPr b="0" lang="es-CO" sz="17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2701"/>
              </a:lnSpc>
              <a:tabLst>
                <a:tab algn="l" pos="0"/>
              </a:tabLst>
            </a:pPr>
            <a:r>
              <a:rPr b="0" lang="es-CO" sz="1700" spc="-1" strike="noStrike">
                <a:solidFill>
                  <a:srgbClr val="eeeff5"/>
                </a:solidFill>
                <a:latin typeface="Montserrat"/>
                <a:ea typeface="Montserrat"/>
              </a:rPr>
              <a:t>1. Gráfica de barras apiladas: barras divididas en segmentos.</a:t>
            </a:r>
            <a:endParaRPr b="0" lang="es-CO" sz="17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2701"/>
              </a:lnSpc>
              <a:tabLst>
                <a:tab algn="l" pos="0"/>
              </a:tabLst>
            </a:pPr>
            <a:endParaRPr b="0" lang="es-CO" sz="17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2701"/>
              </a:lnSpc>
              <a:tabLst>
                <a:tab algn="l" pos="0"/>
              </a:tabLst>
            </a:pPr>
            <a:endParaRPr b="0" lang="es-CO" sz="17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2701"/>
              </a:lnSpc>
              <a:tabLst>
                <a:tab algn="l" pos="0"/>
              </a:tabLst>
            </a:pPr>
            <a:r>
              <a:rPr b="0" lang="es-CO" sz="1700" spc="-1" strike="noStrike">
                <a:solidFill>
                  <a:srgbClr val="eeeff5"/>
                </a:solidFill>
                <a:latin typeface="Montserrat"/>
                <a:ea typeface="Montserrat"/>
              </a:rPr>
              <a:t>2. Gráfica de columnas apiladas: como la anterior, pero vertical.</a:t>
            </a:r>
            <a:endParaRPr b="0" lang="es-CO" sz="17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2701"/>
              </a:lnSpc>
              <a:tabLst>
                <a:tab algn="l" pos="0"/>
              </a:tabLst>
            </a:pPr>
            <a:endParaRPr b="0" lang="es-CO" sz="17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2701"/>
              </a:lnSpc>
              <a:tabLst>
                <a:tab algn="l" pos="0"/>
              </a:tabLst>
            </a:pPr>
            <a:endParaRPr b="0" lang="es-CO" sz="17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2701"/>
              </a:lnSpc>
              <a:tabLst>
                <a:tab algn="l" pos="0"/>
              </a:tabLst>
            </a:pPr>
            <a:r>
              <a:rPr b="0" lang="es-CO" sz="1700" spc="-1" strike="noStrike">
                <a:solidFill>
                  <a:srgbClr val="eeeff5"/>
                </a:solidFill>
                <a:latin typeface="Montserrat"/>
                <a:ea typeface="Montserrat"/>
              </a:rPr>
              <a:t>3. Gráfica de áreas apiladas: áreas superpuestas que muestran la evolución de las partes.</a:t>
            </a:r>
            <a:endParaRPr b="0" lang="es-CO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Image 0" descr="preencoded.png"/>
          <p:cNvPicPr/>
          <p:nvPr/>
        </p:nvPicPr>
        <p:blipFill>
          <a:blip r:embed="rId1"/>
          <a:stretch/>
        </p:blipFill>
        <p:spPr>
          <a:xfrm>
            <a:off x="9144000" y="0"/>
            <a:ext cx="5485320" cy="8228520"/>
          </a:xfrm>
          <a:prstGeom prst="rect">
            <a:avLst/>
          </a:prstGeom>
          <a:ln w="0">
            <a:noFill/>
          </a:ln>
          <a:effectLst>
            <a:outerShdw blurRad="0" dir="2700000" dist="101823" rotWithShape="0">
              <a:srgbClr val="000000"/>
            </a:outerShdw>
          </a:effectLst>
        </p:spPr>
      </p:pic>
      <p:sp>
        <p:nvSpPr>
          <p:cNvPr id="65" name="Text 0"/>
          <p:cNvSpPr/>
          <p:nvPr/>
        </p:nvSpPr>
        <p:spPr>
          <a:xfrm>
            <a:off x="758160" y="1774080"/>
            <a:ext cx="5700600" cy="7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5601"/>
              </a:lnSpc>
              <a:tabLst>
                <a:tab algn="l" pos="0"/>
              </a:tabLst>
            </a:pPr>
            <a:r>
              <a:rPr b="1" lang="es-CO" sz="4450" spc="-1" strike="noStrike">
                <a:solidFill>
                  <a:srgbClr val="9998ff"/>
                </a:solidFill>
                <a:latin typeface="comic"/>
                <a:ea typeface="Barlow Bold"/>
              </a:rPr>
              <a:t>¿Para Qué Se Utiliza?</a:t>
            </a:r>
            <a:endParaRPr b="0" lang="es-CO" sz="4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hape 1"/>
          <p:cNvSpPr/>
          <p:nvPr/>
        </p:nvSpPr>
        <p:spPr>
          <a:xfrm>
            <a:off x="758160" y="2811600"/>
            <a:ext cx="486360" cy="486360"/>
          </a:xfrm>
          <a:prstGeom prst="roundRect">
            <a:avLst>
              <a:gd name="adj" fmla="val 40004"/>
            </a:avLst>
          </a:prstGeom>
          <a:solidFill>
            <a:srgbClr val="282c32"/>
          </a:solidFill>
          <a:ln w="0">
            <a:noFill/>
          </a:ln>
          <a:effectLst>
            <a:outerShdw algn="bl" blurRad="53280" dir="13500000" dist="26474" rotWithShape="0">
              <a:srgbClr val="ffffff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CO" sz="1800" spc="-1" strike="noStrike">
              <a:solidFill>
                <a:schemeClr val="lt1"/>
              </a:solidFill>
              <a:latin typeface="Arial"/>
            </a:endParaRPr>
          </a:p>
        </p:txBody>
      </p:sp>
      <p:pic>
        <p:nvPicPr>
          <p:cNvPr id="67" name="Image 1" descr="preencoded.png"/>
          <p:cNvPicPr/>
          <p:nvPr/>
        </p:nvPicPr>
        <p:blipFill>
          <a:blip r:embed="rId2"/>
          <a:stretch/>
        </p:blipFill>
        <p:spPr>
          <a:xfrm>
            <a:off x="830880" y="2841480"/>
            <a:ext cx="340920" cy="426600"/>
          </a:xfrm>
          <a:prstGeom prst="rect">
            <a:avLst/>
          </a:prstGeom>
          <a:ln w="0">
            <a:noFill/>
          </a:ln>
          <a:effectLst>
            <a:outerShdw blurRad="0" dir="2700000" dist="101823" rotWithShape="0">
              <a:srgbClr val="000000"/>
            </a:outerShdw>
          </a:effectLst>
        </p:spPr>
      </p:pic>
      <p:sp>
        <p:nvSpPr>
          <p:cNvPr id="68" name="Text 2"/>
          <p:cNvSpPr/>
          <p:nvPr/>
        </p:nvSpPr>
        <p:spPr>
          <a:xfrm>
            <a:off x="1462320" y="2886120"/>
            <a:ext cx="3089880" cy="71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801"/>
              </a:lnSpc>
              <a:tabLst>
                <a:tab algn="l" pos="0"/>
              </a:tabLst>
            </a:pPr>
            <a:r>
              <a:rPr b="1" lang="es-CO" sz="2200" spc="-1" strike="noStrike">
                <a:solidFill>
                  <a:srgbClr val="eeeff5"/>
                </a:solidFill>
                <a:latin typeface="comic"/>
                <a:ea typeface="Barlow Bold"/>
              </a:rPr>
              <a:t>Comparar Proporciones</a:t>
            </a:r>
            <a:endParaRPr b="0" lang="es-CO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 3"/>
          <p:cNvSpPr/>
          <p:nvPr/>
        </p:nvSpPr>
        <p:spPr>
          <a:xfrm>
            <a:off x="1462320" y="3728160"/>
            <a:ext cx="2973240" cy="103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701"/>
              </a:lnSpc>
              <a:tabLst>
                <a:tab algn="l" pos="0"/>
              </a:tabLst>
            </a:pPr>
            <a:r>
              <a:rPr b="0" lang="es-CO" sz="1700" spc="-1" strike="noStrike">
                <a:solidFill>
                  <a:srgbClr val="eeeff5"/>
                </a:solidFill>
                <a:latin typeface="Montserrat"/>
                <a:ea typeface="Montserrat"/>
              </a:rPr>
              <a:t>Ideal para ver la contribución de cada parte al total.</a:t>
            </a:r>
            <a:endParaRPr b="0" lang="es-CO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4"/>
          <p:cNvSpPr/>
          <p:nvPr/>
        </p:nvSpPr>
        <p:spPr>
          <a:xfrm>
            <a:off x="4707360" y="2811600"/>
            <a:ext cx="486360" cy="486360"/>
          </a:xfrm>
          <a:prstGeom prst="roundRect">
            <a:avLst>
              <a:gd name="adj" fmla="val 40004"/>
            </a:avLst>
          </a:prstGeom>
          <a:solidFill>
            <a:srgbClr val="282c32"/>
          </a:solidFill>
          <a:ln w="0">
            <a:noFill/>
          </a:ln>
          <a:effectLst>
            <a:outerShdw algn="bl" blurRad="53280" dir="13500000" dist="26474" rotWithShape="0">
              <a:srgbClr val="ffffff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CO" sz="1800" spc="-1" strike="noStrike">
              <a:solidFill>
                <a:schemeClr val="lt1"/>
              </a:solidFill>
              <a:latin typeface="Arial"/>
            </a:endParaRPr>
          </a:p>
        </p:txBody>
      </p:sp>
      <p:pic>
        <p:nvPicPr>
          <p:cNvPr id="71" name="Image 2" descr="preencoded.png"/>
          <p:cNvPicPr/>
          <p:nvPr/>
        </p:nvPicPr>
        <p:blipFill>
          <a:blip r:embed="rId3"/>
          <a:stretch/>
        </p:blipFill>
        <p:spPr>
          <a:xfrm>
            <a:off x="4780080" y="2841480"/>
            <a:ext cx="340920" cy="426600"/>
          </a:xfrm>
          <a:prstGeom prst="rect">
            <a:avLst/>
          </a:prstGeom>
          <a:ln w="0">
            <a:noFill/>
          </a:ln>
          <a:effectLst>
            <a:outerShdw blurRad="0" dir="2700000" dist="101823" rotWithShape="0">
              <a:srgbClr val="000000"/>
            </a:outerShdw>
          </a:effectLst>
        </p:spPr>
      </p:pic>
      <p:sp>
        <p:nvSpPr>
          <p:cNvPr id="72" name="Text 5"/>
          <p:cNvSpPr/>
          <p:nvPr/>
        </p:nvSpPr>
        <p:spPr>
          <a:xfrm>
            <a:off x="5411520" y="2886120"/>
            <a:ext cx="287352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801"/>
              </a:lnSpc>
              <a:tabLst>
                <a:tab algn="l" pos="0"/>
              </a:tabLst>
            </a:pPr>
            <a:r>
              <a:rPr b="1" lang="es-CO" sz="2200" spc="-1" strike="noStrike">
                <a:solidFill>
                  <a:srgbClr val="eeeff5"/>
                </a:solidFill>
                <a:latin typeface="comic"/>
                <a:ea typeface="Barlow Bold"/>
              </a:rPr>
              <a:t>Análisis de Tendencias</a:t>
            </a:r>
            <a:endParaRPr b="0" lang="es-CO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 6"/>
          <p:cNvSpPr/>
          <p:nvPr/>
        </p:nvSpPr>
        <p:spPr>
          <a:xfrm>
            <a:off x="5411520" y="3372120"/>
            <a:ext cx="2973240" cy="103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701"/>
              </a:lnSpc>
              <a:tabLst>
                <a:tab algn="l" pos="0"/>
              </a:tabLst>
            </a:pPr>
            <a:r>
              <a:rPr b="0" lang="es-CO" sz="1700" spc="-1" strike="noStrike">
                <a:solidFill>
                  <a:srgbClr val="eeeff5"/>
                </a:solidFill>
                <a:latin typeface="Montserrat"/>
                <a:ea typeface="Montserrat"/>
              </a:rPr>
              <a:t>Permite observar cambios en las proporciones a lo largo del tiempo.</a:t>
            </a:r>
            <a:endParaRPr b="0" lang="es-CO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7"/>
          <p:cNvSpPr/>
          <p:nvPr/>
        </p:nvSpPr>
        <p:spPr>
          <a:xfrm>
            <a:off x="758160" y="5201640"/>
            <a:ext cx="486360" cy="486360"/>
          </a:xfrm>
          <a:prstGeom prst="roundRect">
            <a:avLst>
              <a:gd name="adj" fmla="val 40004"/>
            </a:avLst>
          </a:prstGeom>
          <a:solidFill>
            <a:srgbClr val="282c32"/>
          </a:solidFill>
          <a:ln w="0">
            <a:noFill/>
          </a:ln>
          <a:effectLst>
            <a:outerShdw algn="bl" blurRad="53280" dir="13500000" dist="26474" rotWithShape="0">
              <a:srgbClr val="ffffff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CO" sz="1800" spc="-1" strike="noStrike">
              <a:solidFill>
                <a:schemeClr val="lt1"/>
              </a:solidFill>
              <a:latin typeface="Arial"/>
            </a:endParaRPr>
          </a:p>
        </p:txBody>
      </p:sp>
      <p:pic>
        <p:nvPicPr>
          <p:cNvPr id="75" name="Image 3" descr="preencoded.png"/>
          <p:cNvPicPr/>
          <p:nvPr/>
        </p:nvPicPr>
        <p:blipFill>
          <a:blip r:embed="rId4"/>
          <a:stretch/>
        </p:blipFill>
        <p:spPr>
          <a:xfrm>
            <a:off x="830880" y="5231520"/>
            <a:ext cx="340920" cy="426600"/>
          </a:xfrm>
          <a:prstGeom prst="rect">
            <a:avLst/>
          </a:prstGeom>
          <a:ln w="0">
            <a:noFill/>
          </a:ln>
          <a:effectLst>
            <a:outerShdw blurRad="0" dir="2700000" dist="101823" rotWithShape="0">
              <a:srgbClr val="000000"/>
            </a:outerShdw>
          </a:effectLst>
        </p:spPr>
      </p:pic>
      <p:sp>
        <p:nvSpPr>
          <p:cNvPr id="76" name="Text 8"/>
          <p:cNvSpPr/>
          <p:nvPr/>
        </p:nvSpPr>
        <p:spPr>
          <a:xfrm>
            <a:off x="1462320" y="5276160"/>
            <a:ext cx="284976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801"/>
              </a:lnSpc>
              <a:tabLst>
                <a:tab algn="l" pos="0"/>
              </a:tabLst>
            </a:pPr>
            <a:r>
              <a:rPr b="1" lang="es-CO" sz="2200" spc="-1" strike="noStrike">
                <a:solidFill>
                  <a:srgbClr val="eeeff5"/>
                </a:solidFill>
                <a:latin typeface="comic"/>
                <a:ea typeface="Barlow Bold"/>
              </a:rPr>
              <a:t>Visión General Rápida</a:t>
            </a:r>
            <a:endParaRPr b="0" lang="es-CO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9"/>
          <p:cNvSpPr/>
          <p:nvPr/>
        </p:nvSpPr>
        <p:spPr>
          <a:xfrm>
            <a:off x="1462320" y="5762160"/>
            <a:ext cx="6922440" cy="69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701"/>
              </a:lnSpc>
              <a:tabLst>
                <a:tab algn="l" pos="0"/>
              </a:tabLst>
            </a:pPr>
            <a:r>
              <a:rPr b="0" lang="es-CO" sz="1700" spc="-1" strike="noStrike">
                <a:solidFill>
                  <a:srgbClr val="eeeff5"/>
                </a:solidFill>
                <a:latin typeface="Montserrat"/>
                <a:ea typeface="Montserrat"/>
              </a:rPr>
              <a:t>Ofrece una comprensión instantánea de la composición de los datos.</a:t>
            </a:r>
            <a:endParaRPr b="0" lang="es-CO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CuadroTexto 15"/>
          <p:cNvSpPr/>
          <p:nvPr/>
        </p:nvSpPr>
        <p:spPr>
          <a:xfrm>
            <a:off x="0" y="7701480"/>
            <a:ext cx="9142920" cy="398160"/>
          </a:xfrm>
          <a:prstGeom prst="rect">
            <a:avLst/>
          </a:prstGeom>
          <a:solidFill>
            <a:srgbClr val="7030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s-CO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Image 0" descr="preencoded.png"/>
          <p:cNvPicPr/>
          <p:nvPr/>
        </p:nvPicPr>
        <p:blipFill>
          <a:blip r:embed="rId1"/>
          <a:stretch/>
        </p:blipFill>
        <p:spPr>
          <a:xfrm>
            <a:off x="9144000" y="0"/>
            <a:ext cx="5485320" cy="8228520"/>
          </a:xfrm>
          <a:prstGeom prst="rect">
            <a:avLst/>
          </a:prstGeom>
          <a:ln w="0">
            <a:noFill/>
          </a:ln>
          <a:effectLst>
            <a:outerShdw blurRad="0" dir="2700000" dist="101823" rotWithShape="0">
              <a:srgbClr val="000000"/>
            </a:outerShdw>
          </a:effectLst>
        </p:spPr>
      </p:pic>
      <p:sp>
        <p:nvSpPr>
          <p:cNvPr id="80" name="Text 0"/>
          <p:cNvSpPr/>
          <p:nvPr/>
        </p:nvSpPr>
        <p:spPr>
          <a:xfrm>
            <a:off x="758160" y="1042200"/>
            <a:ext cx="7626240" cy="142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5601"/>
              </a:lnSpc>
              <a:tabLst>
                <a:tab algn="l" pos="0"/>
              </a:tabLst>
            </a:pPr>
            <a:r>
              <a:rPr b="1" lang="es-CO" sz="4450" spc="-1" strike="noStrike">
                <a:solidFill>
                  <a:srgbClr val="9998ff"/>
                </a:solidFill>
                <a:latin typeface="comic"/>
                <a:ea typeface="Barlow Bold"/>
              </a:rPr>
              <a:t>Usos Cotidianos y Aplicaciones</a:t>
            </a:r>
            <a:endParaRPr b="0" lang="es-CO" sz="4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Shape 1"/>
          <p:cNvSpPr/>
          <p:nvPr/>
        </p:nvSpPr>
        <p:spPr>
          <a:xfrm>
            <a:off x="758160" y="2792520"/>
            <a:ext cx="3704400" cy="2435040"/>
          </a:xfrm>
          <a:prstGeom prst="roundRect">
            <a:avLst>
              <a:gd name="adj" fmla="val 8005"/>
            </a:avLst>
          </a:prstGeom>
          <a:solidFill>
            <a:srgbClr val="282c32"/>
          </a:solidFill>
          <a:ln w="0">
            <a:noFill/>
          </a:ln>
          <a:effectLst>
            <a:outerShdw algn="bl" blurRad="53280" dir="13500000" dist="26474" rotWithShape="0">
              <a:srgbClr val="ffffff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CO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82" name="Text 2"/>
          <p:cNvSpPr/>
          <p:nvPr/>
        </p:nvSpPr>
        <p:spPr>
          <a:xfrm>
            <a:off x="974880" y="3008880"/>
            <a:ext cx="284976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801"/>
              </a:lnSpc>
              <a:tabLst>
                <a:tab algn="l" pos="0"/>
              </a:tabLst>
            </a:pPr>
            <a:r>
              <a:rPr b="1" lang="es-CO" sz="2200" spc="-1" strike="noStrike">
                <a:solidFill>
                  <a:srgbClr val="eeeff5"/>
                </a:solidFill>
                <a:latin typeface="comic"/>
                <a:ea typeface="Barlow Bold"/>
              </a:rPr>
              <a:t>Análisis de Ventas</a:t>
            </a:r>
            <a:endParaRPr b="0" lang="es-CO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 3"/>
          <p:cNvSpPr/>
          <p:nvPr/>
        </p:nvSpPr>
        <p:spPr>
          <a:xfrm>
            <a:off x="974880" y="3495240"/>
            <a:ext cx="3271320" cy="69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701"/>
              </a:lnSpc>
              <a:tabLst>
                <a:tab algn="l" pos="0"/>
              </a:tabLst>
            </a:pPr>
            <a:r>
              <a:rPr b="0" lang="es-CO" sz="1700" spc="-1" strike="noStrike">
                <a:solidFill>
                  <a:srgbClr val="eeeff5"/>
                </a:solidFill>
                <a:latin typeface="Montserrat"/>
                <a:ea typeface="Montserrat"/>
              </a:rPr>
              <a:t>Visualiza las ventas por producto y región.</a:t>
            </a:r>
            <a:endParaRPr b="0" lang="es-CO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 4"/>
          <p:cNvSpPr/>
          <p:nvPr/>
        </p:nvSpPr>
        <p:spPr>
          <a:xfrm>
            <a:off x="974880" y="4318560"/>
            <a:ext cx="3271320" cy="69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701"/>
              </a:lnSpc>
              <a:tabLst>
                <a:tab algn="l" pos="0"/>
              </a:tabLst>
            </a:pPr>
            <a:r>
              <a:rPr b="0" lang="es-CO" sz="1700" spc="-1" strike="noStrike">
                <a:solidFill>
                  <a:srgbClr val="eeeff5"/>
                </a:solidFill>
                <a:latin typeface="Montserrat"/>
                <a:ea typeface="Montserrat"/>
              </a:rPr>
              <a:t>Compara la contribución de cada categoría de producto.</a:t>
            </a:r>
            <a:endParaRPr b="0" lang="es-CO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Shape 5"/>
          <p:cNvSpPr/>
          <p:nvPr/>
        </p:nvSpPr>
        <p:spPr>
          <a:xfrm>
            <a:off x="4680360" y="2792520"/>
            <a:ext cx="3704400" cy="2435040"/>
          </a:xfrm>
          <a:prstGeom prst="roundRect">
            <a:avLst>
              <a:gd name="adj" fmla="val 8005"/>
            </a:avLst>
          </a:prstGeom>
          <a:solidFill>
            <a:srgbClr val="282c32"/>
          </a:solidFill>
          <a:ln w="0">
            <a:noFill/>
          </a:ln>
          <a:effectLst>
            <a:outerShdw algn="bl" blurRad="53280" dir="13500000" dist="26474" rotWithShape="0">
              <a:srgbClr val="ffffff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CO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86" name="Text 6"/>
          <p:cNvSpPr/>
          <p:nvPr/>
        </p:nvSpPr>
        <p:spPr>
          <a:xfrm>
            <a:off x="4897080" y="3008880"/>
            <a:ext cx="284976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801"/>
              </a:lnSpc>
              <a:tabLst>
                <a:tab algn="l" pos="0"/>
              </a:tabLst>
            </a:pPr>
            <a:r>
              <a:rPr b="1" lang="es-CO" sz="2200" spc="-1" strike="noStrike">
                <a:solidFill>
                  <a:srgbClr val="eeeff5"/>
                </a:solidFill>
                <a:latin typeface="comic"/>
                <a:ea typeface="Barlow Bold"/>
              </a:rPr>
              <a:t>Demografía</a:t>
            </a:r>
            <a:endParaRPr b="0" lang="es-CO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7"/>
          <p:cNvSpPr/>
          <p:nvPr/>
        </p:nvSpPr>
        <p:spPr>
          <a:xfrm>
            <a:off x="4897080" y="3495240"/>
            <a:ext cx="3271320" cy="69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701"/>
              </a:lnSpc>
              <a:tabLst>
                <a:tab algn="l" pos="0"/>
              </a:tabLst>
            </a:pPr>
            <a:r>
              <a:rPr b="0" lang="es-CO" sz="1700" spc="-1" strike="noStrike">
                <a:solidFill>
                  <a:srgbClr val="eeeff5"/>
                </a:solidFill>
                <a:latin typeface="Montserrat"/>
                <a:ea typeface="Montserrat"/>
              </a:rPr>
              <a:t>Muestra la distribución de la población por edad y sexo.</a:t>
            </a:r>
            <a:endParaRPr b="0" lang="es-CO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8"/>
          <p:cNvSpPr/>
          <p:nvPr/>
        </p:nvSpPr>
        <p:spPr>
          <a:xfrm>
            <a:off x="4897080" y="4318560"/>
            <a:ext cx="3271320" cy="69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701"/>
              </a:lnSpc>
              <a:tabLst>
                <a:tab algn="l" pos="0"/>
              </a:tabLst>
            </a:pPr>
            <a:r>
              <a:rPr b="0" lang="es-CO" sz="1700" spc="-1" strike="noStrike">
                <a:solidFill>
                  <a:srgbClr val="eeeff5"/>
                </a:solidFill>
                <a:latin typeface="Montserrat"/>
                <a:ea typeface="Montserrat"/>
              </a:rPr>
              <a:t>Útil para estudios de mercado y planificación social.</a:t>
            </a:r>
            <a:endParaRPr b="0" lang="es-CO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9"/>
          <p:cNvSpPr/>
          <p:nvPr/>
        </p:nvSpPr>
        <p:spPr>
          <a:xfrm>
            <a:off x="758160" y="5445000"/>
            <a:ext cx="7626240" cy="1741680"/>
          </a:xfrm>
          <a:prstGeom prst="roundRect">
            <a:avLst>
              <a:gd name="adj" fmla="val 11190"/>
            </a:avLst>
          </a:prstGeom>
          <a:solidFill>
            <a:srgbClr val="282c32"/>
          </a:solidFill>
          <a:ln w="0">
            <a:noFill/>
          </a:ln>
          <a:effectLst>
            <a:outerShdw algn="bl" blurRad="53280" dir="13500000" dist="26474" rotWithShape="0">
              <a:srgbClr val="ffffff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CO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90" name="Text 10"/>
          <p:cNvSpPr/>
          <p:nvPr/>
        </p:nvSpPr>
        <p:spPr>
          <a:xfrm>
            <a:off x="974880" y="5661720"/>
            <a:ext cx="317484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801"/>
              </a:lnSpc>
              <a:tabLst>
                <a:tab algn="l" pos="0"/>
              </a:tabLst>
            </a:pPr>
            <a:r>
              <a:rPr b="1" lang="es-CO" sz="2200" spc="-1" strike="noStrike">
                <a:solidFill>
                  <a:srgbClr val="eeeff5"/>
                </a:solidFill>
                <a:latin typeface="comic"/>
                <a:ea typeface="Barlow Bold"/>
              </a:rPr>
              <a:t>Resultados de Encuestas</a:t>
            </a:r>
            <a:endParaRPr b="0" lang="es-CO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11"/>
          <p:cNvSpPr/>
          <p:nvPr/>
        </p:nvSpPr>
        <p:spPr>
          <a:xfrm>
            <a:off x="974880" y="6147720"/>
            <a:ext cx="71931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701"/>
              </a:lnSpc>
              <a:tabLst>
                <a:tab algn="l" pos="0"/>
              </a:tabLst>
            </a:pPr>
            <a:r>
              <a:rPr b="0" lang="es-CO" sz="1700" spc="-1" strike="noStrike">
                <a:solidFill>
                  <a:srgbClr val="eeeff5"/>
                </a:solidFill>
                <a:latin typeface="Montserrat"/>
                <a:ea typeface="Montserrat"/>
              </a:rPr>
              <a:t>Presenta respuestas a preguntas de opción múltiple.</a:t>
            </a:r>
            <a:endParaRPr b="0" lang="es-CO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12"/>
          <p:cNvSpPr/>
          <p:nvPr/>
        </p:nvSpPr>
        <p:spPr>
          <a:xfrm>
            <a:off x="974880" y="6624360"/>
            <a:ext cx="71931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701"/>
              </a:lnSpc>
              <a:tabLst>
                <a:tab algn="l" pos="0"/>
              </a:tabLst>
            </a:pPr>
            <a:r>
              <a:rPr b="0" lang="es-CO" sz="1700" spc="-1" strike="noStrike">
                <a:solidFill>
                  <a:srgbClr val="eeeff5"/>
                </a:solidFill>
                <a:latin typeface="Montserrat"/>
                <a:ea typeface="Montserrat"/>
              </a:rPr>
              <a:t>Analiza la distribución de opiniones o preferencias.</a:t>
            </a:r>
            <a:endParaRPr b="0" lang="es-CO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CuadroTexto 15"/>
          <p:cNvSpPr/>
          <p:nvPr/>
        </p:nvSpPr>
        <p:spPr>
          <a:xfrm>
            <a:off x="0" y="7701480"/>
            <a:ext cx="9142920" cy="398160"/>
          </a:xfrm>
          <a:prstGeom prst="rect">
            <a:avLst/>
          </a:prstGeom>
          <a:solidFill>
            <a:srgbClr val="7030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s-CO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5485320" cy="8228520"/>
          </a:xfrm>
          <a:prstGeom prst="rect">
            <a:avLst/>
          </a:prstGeom>
          <a:ln w="0">
            <a:noFill/>
          </a:ln>
          <a:effectLst>
            <a:outerShdw blurRad="0" dir="2700000" dist="101823" rotWithShape="0">
              <a:srgbClr val="000000"/>
            </a:outerShdw>
          </a:effectLst>
        </p:spPr>
      </p:pic>
      <p:sp>
        <p:nvSpPr>
          <p:cNvPr id="95" name="Text 0"/>
          <p:cNvSpPr/>
          <p:nvPr/>
        </p:nvSpPr>
        <p:spPr>
          <a:xfrm>
            <a:off x="6224040" y="733680"/>
            <a:ext cx="7667640" cy="13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5451"/>
              </a:lnSpc>
              <a:tabLst>
                <a:tab algn="l" pos="0"/>
              </a:tabLst>
            </a:pPr>
            <a:r>
              <a:rPr b="1" lang="es-CO" sz="4350" spc="-1" strike="noStrike">
                <a:solidFill>
                  <a:srgbClr val="9998ff"/>
                </a:solidFill>
                <a:latin typeface="comic"/>
                <a:ea typeface="Barlow Bold"/>
              </a:rPr>
              <a:t>Construcción en Microsoft Excel</a:t>
            </a:r>
            <a:endParaRPr b="0" lang="es-CO" sz="43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6" name="Image 1" descr="preencoded.png"/>
          <p:cNvPicPr/>
          <p:nvPr/>
        </p:nvPicPr>
        <p:blipFill>
          <a:blip r:embed="rId2"/>
          <a:stretch/>
        </p:blipFill>
        <p:spPr>
          <a:xfrm>
            <a:off x="6224040" y="2436480"/>
            <a:ext cx="1053000" cy="1263600"/>
          </a:xfrm>
          <a:prstGeom prst="rect">
            <a:avLst/>
          </a:prstGeom>
          <a:ln w="0">
            <a:noFill/>
          </a:ln>
          <a:effectLst>
            <a:outerShdw blurRad="0" dir="2700000" dist="101823" rotWithShape="0">
              <a:srgbClr val="000000"/>
            </a:outerShdw>
          </a:effectLst>
        </p:spPr>
      </p:pic>
      <p:sp>
        <p:nvSpPr>
          <p:cNvPr id="97" name="Text 1"/>
          <p:cNvSpPr/>
          <p:nvPr/>
        </p:nvSpPr>
        <p:spPr>
          <a:xfrm>
            <a:off x="7594200" y="2647080"/>
            <a:ext cx="277272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701"/>
              </a:lnSpc>
              <a:tabLst>
                <a:tab algn="l" pos="0"/>
              </a:tabLst>
            </a:pPr>
            <a:r>
              <a:rPr b="1" lang="es-CO" sz="2150" spc="-1" strike="noStrike">
                <a:solidFill>
                  <a:srgbClr val="eeeff5"/>
                </a:solidFill>
                <a:latin typeface="comic"/>
                <a:ea typeface="Barlow Bold"/>
              </a:rPr>
              <a:t>Organizar Datos</a:t>
            </a:r>
            <a:endParaRPr b="0" lang="es-CO" sz="2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2"/>
          <p:cNvSpPr/>
          <p:nvPr/>
        </p:nvSpPr>
        <p:spPr>
          <a:xfrm>
            <a:off x="7594200" y="3120480"/>
            <a:ext cx="6297480" cy="33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650"/>
              </a:lnSpc>
              <a:tabLst>
                <a:tab algn="l" pos="0"/>
              </a:tabLst>
            </a:pPr>
            <a:r>
              <a:rPr b="0" lang="es-CO" sz="1650" spc="-1" strike="noStrike">
                <a:solidFill>
                  <a:srgbClr val="eeeff5"/>
                </a:solidFill>
                <a:latin typeface="Montserrat"/>
                <a:ea typeface="Montserrat"/>
              </a:rPr>
              <a:t>Prepara tus datos en columnas con categorías y valores.</a:t>
            </a:r>
            <a:endParaRPr b="0" lang="es-CO" sz="16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9" name="Image 2" descr="preencoded.png"/>
          <p:cNvPicPr/>
          <p:nvPr/>
        </p:nvPicPr>
        <p:blipFill>
          <a:blip r:embed="rId3"/>
          <a:stretch/>
        </p:blipFill>
        <p:spPr>
          <a:xfrm>
            <a:off x="6224040" y="3701160"/>
            <a:ext cx="1053000" cy="1263600"/>
          </a:xfrm>
          <a:prstGeom prst="rect">
            <a:avLst/>
          </a:prstGeom>
          <a:ln w="0">
            <a:noFill/>
          </a:ln>
          <a:effectLst>
            <a:outerShdw blurRad="0" dir="2700000" dist="101823" rotWithShape="0">
              <a:srgbClr val="000000"/>
            </a:outerShdw>
          </a:effectLst>
        </p:spPr>
      </p:pic>
      <p:sp>
        <p:nvSpPr>
          <p:cNvPr id="100" name="Text 3"/>
          <p:cNvSpPr/>
          <p:nvPr/>
        </p:nvSpPr>
        <p:spPr>
          <a:xfrm>
            <a:off x="7594200" y="3912120"/>
            <a:ext cx="277272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701"/>
              </a:lnSpc>
              <a:tabLst>
                <a:tab algn="l" pos="0"/>
              </a:tabLst>
            </a:pPr>
            <a:r>
              <a:rPr b="1" lang="es-CO" sz="2150" spc="-1" strike="noStrike">
                <a:solidFill>
                  <a:srgbClr val="eeeff5"/>
                </a:solidFill>
                <a:latin typeface="comic"/>
                <a:ea typeface="Barlow Bold"/>
              </a:rPr>
              <a:t>Insertar Gráfico</a:t>
            </a:r>
            <a:endParaRPr b="0" lang="es-CO" sz="2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 4"/>
          <p:cNvSpPr/>
          <p:nvPr/>
        </p:nvSpPr>
        <p:spPr>
          <a:xfrm>
            <a:off x="7594200" y="4385160"/>
            <a:ext cx="6297480" cy="33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650"/>
              </a:lnSpc>
              <a:tabLst>
                <a:tab algn="l" pos="0"/>
              </a:tabLst>
            </a:pPr>
            <a:r>
              <a:rPr b="0" lang="es-CO" sz="1650" spc="-1" strike="noStrike">
                <a:solidFill>
                  <a:srgbClr val="eeeff5"/>
                </a:solidFill>
                <a:latin typeface="Montserrat"/>
                <a:ea typeface="Montserrat"/>
              </a:rPr>
              <a:t>Selecciona los datos y elige "Gráfico de barras apiladas".</a:t>
            </a:r>
            <a:endParaRPr b="0" lang="es-CO" sz="16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2" name="Image 3" descr="preencoded.png"/>
          <p:cNvPicPr/>
          <p:nvPr/>
        </p:nvPicPr>
        <p:blipFill>
          <a:blip r:embed="rId4"/>
          <a:stretch/>
        </p:blipFill>
        <p:spPr>
          <a:xfrm>
            <a:off x="6224040" y="4966200"/>
            <a:ext cx="1053000" cy="1263600"/>
          </a:xfrm>
          <a:prstGeom prst="rect">
            <a:avLst/>
          </a:prstGeom>
          <a:ln w="0">
            <a:noFill/>
          </a:ln>
          <a:effectLst>
            <a:outerShdw blurRad="0" dir="2700000" dist="101823" rotWithShape="0">
              <a:srgbClr val="000000"/>
            </a:outerShdw>
          </a:effectLst>
        </p:spPr>
      </p:pic>
      <p:sp>
        <p:nvSpPr>
          <p:cNvPr id="103" name="Text 5"/>
          <p:cNvSpPr/>
          <p:nvPr/>
        </p:nvSpPr>
        <p:spPr>
          <a:xfrm>
            <a:off x="7594200" y="5176800"/>
            <a:ext cx="277272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701"/>
              </a:lnSpc>
              <a:tabLst>
                <a:tab algn="l" pos="0"/>
              </a:tabLst>
            </a:pPr>
            <a:r>
              <a:rPr b="1" lang="es-CO" sz="2150" spc="-1" strike="noStrike">
                <a:solidFill>
                  <a:srgbClr val="eeeff5"/>
                </a:solidFill>
                <a:latin typeface="comic"/>
                <a:ea typeface="Barlow Bold"/>
              </a:rPr>
              <a:t>Personalizar</a:t>
            </a:r>
            <a:endParaRPr b="0" lang="es-CO" sz="2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6"/>
          <p:cNvSpPr/>
          <p:nvPr/>
        </p:nvSpPr>
        <p:spPr>
          <a:xfrm>
            <a:off x="7594200" y="5649840"/>
            <a:ext cx="6297480" cy="33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650"/>
              </a:lnSpc>
              <a:tabLst>
                <a:tab algn="l" pos="0"/>
              </a:tabLst>
            </a:pPr>
            <a:r>
              <a:rPr b="0" lang="es-CO" sz="1650" spc="-1" strike="noStrike">
                <a:solidFill>
                  <a:srgbClr val="eeeff5"/>
                </a:solidFill>
                <a:latin typeface="Montserrat"/>
                <a:ea typeface="Montserrat"/>
              </a:rPr>
              <a:t>Ajusta colores, etiquetas, título y ejes para claridad.</a:t>
            </a:r>
            <a:endParaRPr b="0" lang="es-CO" sz="16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5" name="Image 4" descr="preencoded.png"/>
          <p:cNvPicPr/>
          <p:nvPr/>
        </p:nvPicPr>
        <p:blipFill>
          <a:blip r:embed="rId5"/>
          <a:stretch/>
        </p:blipFill>
        <p:spPr>
          <a:xfrm>
            <a:off x="6224040" y="6230880"/>
            <a:ext cx="1053000" cy="1263600"/>
          </a:xfrm>
          <a:prstGeom prst="rect">
            <a:avLst/>
          </a:prstGeom>
          <a:ln w="0">
            <a:noFill/>
          </a:ln>
          <a:effectLst>
            <a:outerShdw blurRad="0" dir="2700000" dist="101823" rotWithShape="0">
              <a:srgbClr val="000000"/>
            </a:outerShdw>
          </a:effectLst>
        </p:spPr>
      </p:pic>
      <p:sp>
        <p:nvSpPr>
          <p:cNvPr id="106" name="Text 7"/>
          <p:cNvSpPr/>
          <p:nvPr/>
        </p:nvSpPr>
        <p:spPr>
          <a:xfrm>
            <a:off x="7594200" y="6441480"/>
            <a:ext cx="277272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701"/>
              </a:lnSpc>
              <a:tabLst>
                <a:tab algn="l" pos="0"/>
              </a:tabLst>
            </a:pPr>
            <a:r>
              <a:rPr b="1" lang="es-CO" sz="2150" spc="-1" strike="noStrike">
                <a:solidFill>
                  <a:srgbClr val="eeeff5"/>
                </a:solidFill>
                <a:latin typeface="comic"/>
                <a:ea typeface="Barlow Bold"/>
              </a:rPr>
              <a:t>Exportar/Compartir</a:t>
            </a:r>
            <a:endParaRPr b="0" lang="es-CO" sz="2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8"/>
          <p:cNvSpPr/>
          <p:nvPr/>
        </p:nvSpPr>
        <p:spPr>
          <a:xfrm>
            <a:off x="7594200" y="6914880"/>
            <a:ext cx="6297480" cy="33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650"/>
              </a:lnSpc>
              <a:tabLst>
                <a:tab algn="l" pos="0"/>
              </a:tabLst>
            </a:pPr>
            <a:r>
              <a:rPr b="0" lang="es-CO" sz="1650" spc="-1" strike="noStrike">
                <a:solidFill>
                  <a:srgbClr val="eeeff5"/>
                </a:solidFill>
                <a:latin typeface="Montserrat"/>
                <a:ea typeface="Montserrat"/>
              </a:rPr>
              <a:t>Guarda o copia el gráfico para usarlo en otras aplicaciones.</a:t>
            </a:r>
            <a:endParaRPr b="0" lang="es-CO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CuadroTexto 15"/>
          <p:cNvSpPr/>
          <p:nvPr/>
        </p:nvSpPr>
        <p:spPr>
          <a:xfrm>
            <a:off x="5486400" y="7701480"/>
            <a:ext cx="9142920" cy="398160"/>
          </a:xfrm>
          <a:prstGeom prst="rect">
            <a:avLst/>
          </a:prstGeom>
          <a:solidFill>
            <a:srgbClr val="7030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s-CO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5485320" cy="8228520"/>
          </a:xfrm>
          <a:prstGeom prst="rect">
            <a:avLst/>
          </a:prstGeom>
          <a:ln w="0">
            <a:noFill/>
          </a:ln>
          <a:effectLst>
            <a:outerShdw blurRad="0" dir="2700000" dist="101823" rotWithShape="0">
              <a:srgbClr val="000000"/>
            </a:outerShdw>
          </a:effectLst>
        </p:spPr>
      </p:pic>
      <p:sp>
        <p:nvSpPr>
          <p:cNvPr id="110" name="Text 0"/>
          <p:cNvSpPr/>
          <p:nvPr/>
        </p:nvSpPr>
        <p:spPr>
          <a:xfrm>
            <a:off x="6244560" y="784800"/>
            <a:ext cx="5700600" cy="7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5601"/>
              </a:lnSpc>
              <a:tabLst>
                <a:tab algn="l" pos="0"/>
              </a:tabLst>
            </a:pPr>
            <a:r>
              <a:rPr b="1" lang="es-CO" sz="4450" spc="-1" strike="noStrike">
                <a:solidFill>
                  <a:srgbClr val="9998ff"/>
                </a:solidFill>
                <a:latin typeface="comic"/>
                <a:ea typeface="Barlow Bold"/>
              </a:rPr>
              <a:t>Creación en Power BI</a:t>
            </a:r>
            <a:endParaRPr b="0" lang="es-CO" sz="4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Shape 1"/>
          <p:cNvSpPr/>
          <p:nvPr/>
        </p:nvSpPr>
        <p:spPr>
          <a:xfrm>
            <a:off x="6488280" y="1822320"/>
            <a:ext cx="29520" cy="5621040"/>
          </a:xfrm>
          <a:prstGeom prst="roundRect">
            <a:avLst>
              <a:gd name="adj" fmla="val 639750"/>
            </a:avLst>
          </a:prstGeom>
          <a:solidFill>
            <a:srgbClr val="6064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CO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112" name="Shape 2"/>
          <p:cNvSpPr/>
          <p:nvPr/>
        </p:nvSpPr>
        <p:spPr>
          <a:xfrm>
            <a:off x="6701760" y="2050920"/>
            <a:ext cx="648720" cy="29520"/>
          </a:xfrm>
          <a:prstGeom prst="roundRect">
            <a:avLst>
              <a:gd name="adj" fmla="val 639750"/>
            </a:avLst>
          </a:prstGeom>
          <a:solidFill>
            <a:srgbClr val="6064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3400" bIns="-23400" anchor="t">
            <a:noAutofit/>
          </a:bodyPr>
          <a:p>
            <a:pPr>
              <a:lnSpc>
                <a:spcPct val="100000"/>
              </a:lnSpc>
            </a:pPr>
            <a:endParaRPr b="0" lang="es-CO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113" name="Shape 3"/>
          <p:cNvSpPr/>
          <p:nvPr/>
        </p:nvSpPr>
        <p:spPr>
          <a:xfrm>
            <a:off x="6244560" y="1822320"/>
            <a:ext cx="486360" cy="486360"/>
          </a:xfrm>
          <a:prstGeom prst="roundRect">
            <a:avLst>
              <a:gd name="adj" fmla="val 40004"/>
            </a:avLst>
          </a:prstGeom>
          <a:solidFill>
            <a:srgbClr val="282c32"/>
          </a:solidFill>
          <a:ln w="0">
            <a:noFill/>
          </a:ln>
          <a:effectLst>
            <a:outerShdw algn="bl" blurRad="53280" dir="13500000" dist="26474" rotWithShape="0">
              <a:srgbClr val="ffffff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CO" sz="1800" spc="-1" strike="noStrike">
              <a:solidFill>
                <a:schemeClr val="lt1"/>
              </a:solidFill>
              <a:latin typeface="Arial"/>
            </a:endParaRPr>
          </a:p>
        </p:txBody>
      </p:sp>
      <p:pic>
        <p:nvPicPr>
          <p:cNvPr id="114" name="Image 1" descr="preencoded.png"/>
          <p:cNvPicPr/>
          <p:nvPr/>
        </p:nvPicPr>
        <p:blipFill>
          <a:blip r:embed="rId2"/>
          <a:stretch/>
        </p:blipFill>
        <p:spPr>
          <a:xfrm>
            <a:off x="6317280" y="1852560"/>
            <a:ext cx="340920" cy="426600"/>
          </a:xfrm>
          <a:prstGeom prst="rect">
            <a:avLst/>
          </a:prstGeom>
          <a:ln w="0">
            <a:noFill/>
          </a:ln>
          <a:effectLst>
            <a:outerShdw blurRad="0" dir="2700000" dist="101823" rotWithShape="0">
              <a:srgbClr val="000000"/>
            </a:outerShdw>
          </a:effectLst>
        </p:spPr>
      </p:pic>
      <p:sp>
        <p:nvSpPr>
          <p:cNvPr id="115" name="Text 4"/>
          <p:cNvSpPr/>
          <p:nvPr/>
        </p:nvSpPr>
        <p:spPr>
          <a:xfrm>
            <a:off x="7571520" y="1896840"/>
            <a:ext cx="284976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801"/>
              </a:lnSpc>
              <a:tabLst>
                <a:tab algn="l" pos="0"/>
              </a:tabLst>
            </a:pPr>
            <a:r>
              <a:rPr b="1" lang="es-CO" sz="2200" spc="-1" strike="noStrike">
                <a:solidFill>
                  <a:srgbClr val="eeeff5"/>
                </a:solidFill>
                <a:latin typeface="comic"/>
                <a:ea typeface="Barlow Bold"/>
              </a:rPr>
              <a:t>Cargar Datos</a:t>
            </a:r>
            <a:endParaRPr b="0" lang="es-CO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 5"/>
          <p:cNvSpPr/>
          <p:nvPr/>
        </p:nvSpPr>
        <p:spPr>
          <a:xfrm>
            <a:off x="7571520" y="2383200"/>
            <a:ext cx="629928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701"/>
              </a:lnSpc>
              <a:tabLst>
                <a:tab algn="l" pos="0"/>
              </a:tabLst>
            </a:pPr>
            <a:r>
              <a:rPr b="0" lang="es-CO" sz="1700" spc="-1" strike="noStrike">
                <a:solidFill>
                  <a:srgbClr val="eeeff5"/>
                </a:solidFill>
                <a:latin typeface="Montserrat"/>
                <a:ea typeface="Montserrat"/>
              </a:rPr>
              <a:t>Importa tu conjunto de datos a Power BI Desktop.</a:t>
            </a:r>
            <a:endParaRPr b="0" lang="es-CO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Shape 6"/>
          <p:cNvSpPr/>
          <p:nvPr/>
        </p:nvSpPr>
        <p:spPr>
          <a:xfrm>
            <a:off x="6701760" y="3391560"/>
            <a:ext cx="648720" cy="29520"/>
          </a:xfrm>
          <a:prstGeom prst="roundRect">
            <a:avLst>
              <a:gd name="adj" fmla="val 639750"/>
            </a:avLst>
          </a:prstGeom>
          <a:solidFill>
            <a:srgbClr val="6064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3400" bIns="-23400" anchor="t">
            <a:noAutofit/>
          </a:bodyPr>
          <a:p>
            <a:pPr>
              <a:lnSpc>
                <a:spcPct val="100000"/>
              </a:lnSpc>
            </a:pPr>
            <a:endParaRPr b="0" lang="es-CO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118" name="Shape 7"/>
          <p:cNvSpPr/>
          <p:nvPr/>
        </p:nvSpPr>
        <p:spPr>
          <a:xfrm>
            <a:off x="6244560" y="3162960"/>
            <a:ext cx="486360" cy="486360"/>
          </a:xfrm>
          <a:prstGeom prst="roundRect">
            <a:avLst>
              <a:gd name="adj" fmla="val 40004"/>
            </a:avLst>
          </a:prstGeom>
          <a:solidFill>
            <a:srgbClr val="282c32"/>
          </a:solidFill>
          <a:ln w="0">
            <a:noFill/>
          </a:ln>
          <a:effectLst>
            <a:outerShdw algn="bl" blurRad="53280" dir="13500000" dist="26474" rotWithShape="0">
              <a:srgbClr val="ffffff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CO" sz="1800" spc="-1" strike="noStrike">
              <a:solidFill>
                <a:schemeClr val="lt1"/>
              </a:solidFill>
              <a:latin typeface="Arial"/>
            </a:endParaRPr>
          </a:p>
        </p:txBody>
      </p:sp>
      <p:pic>
        <p:nvPicPr>
          <p:cNvPr id="119" name="Image 2" descr="preencoded.png"/>
          <p:cNvPicPr/>
          <p:nvPr/>
        </p:nvPicPr>
        <p:blipFill>
          <a:blip r:embed="rId3"/>
          <a:stretch/>
        </p:blipFill>
        <p:spPr>
          <a:xfrm>
            <a:off x="6317280" y="3192840"/>
            <a:ext cx="340920" cy="426600"/>
          </a:xfrm>
          <a:prstGeom prst="rect">
            <a:avLst/>
          </a:prstGeom>
          <a:ln w="0">
            <a:noFill/>
          </a:ln>
          <a:effectLst>
            <a:outerShdw blurRad="0" dir="2700000" dist="101823" rotWithShape="0">
              <a:srgbClr val="000000"/>
            </a:outerShdw>
          </a:effectLst>
        </p:spPr>
      </p:pic>
      <p:sp>
        <p:nvSpPr>
          <p:cNvPr id="120" name="Text 8"/>
          <p:cNvSpPr/>
          <p:nvPr/>
        </p:nvSpPr>
        <p:spPr>
          <a:xfrm>
            <a:off x="7571520" y="3237480"/>
            <a:ext cx="321876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801"/>
              </a:lnSpc>
              <a:tabLst>
                <a:tab algn="l" pos="0"/>
              </a:tabLst>
            </a:pPr>
            <a:r>
              <a:rPr b="1" lang="es-CO" sz="2200" spc="-1" strike="noStrike">
                <a:solidFill>
                  <a:srgbClr val="eeeff5"/>
                </a:solidFill>
                <a:latin typeface="comic"/>
                <a:ea typeface="Barlow Bold"/>
              </a:rPr>
              <a:t>Seleccionar Visualización</a:t>
            </a:r>
            <a:endParaRPr b="0" lang="es-CO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 9"/>
          <p:cNvSpPr/>
          <p:nvPr/>
        </p:nvSpPr>
        <p:spPr>
          <a:xfrm>
            <a:off x="7571520" y="3723480"/>
            <a:ext cx="6299280" cy="69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701"/>
              </a:lnSpc>
              <a:tabLst>
                <a:tab algn="l" pos="0"/>
              </a:tabLst>
            </a:pPr>
            <a:r>
              <a:rPr b="0" lang="es-CO" sz="1700" spc="-1" strike="noStrike">
                <a:solidFill>
                  <a:srgbClr val="eeeff5"/>
                </a:solidFill>
                <a:latin typeface="Montserrat"/>
                <a:ea typeface="Montserrat"/>
              </a:rPr>
              <a:t>Elige el "Gráfico de barras apiladas" en el panel de visualizaciones.</a:t>
            </a:r>
            <a:endParaRPr b="0" lang="es-CO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Shape 10"/>
          <p:cNvSpPr/>
          <p:nvPr/>
        </p:nvSpPr>
        <p:spPr>
          <a:xfrm>
            <a:off x="6701760" y="5078880"/>
            <a:ext cx="648720" cy="29520"/>
          </a:xfrm>
          <a:prstGeom prst="roundRect">
            <a:avLst>
              <a:gd name="adj" fmla="val 639750"/>
            </a:avLst>
          </a:prstGeom>
          <a:solidFill>
            <a:srgbClr val="6064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3400" bIns="-23400" anchor="t">
            <a:noAutofit/>
          </a:bodyPr>
          <a:p>
            <a:pPr>
              <a:lnSpc>
                <a:spcPct val="100000"/>
              </a:lnSpc>
            </a:pPr>
            <a:endParaRPr b="0" lang="es-CO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123" name="Shape 11"/>
          <p:cNvSpPr/>
          <p:nvPr/>
        </p:nvSpPr>
        <p:spPr>
          <a:xfrm>
            <a:off x="6244560" y="4850280"/>
            <a:ext cx="486360" cy="486360"/>
          </a:xfrm>
          <a:prstGeom prst="roundRect">
            <a:avLst>
              <a:gd name="adj" fmla="val 40004"/>
            </a:avLst>
          </a:prstGeom>
          <a:solidFill>
            <a:srgbClr val="282c32"/>
          </a:solidFill>
          <a:ln w="0">
            <a:noFill/>
          </a:ln>
          <a:effectLst>
            <a:outerShdw algn="bl" blurRad="53280" dir="13500000" dist="26474" rotWithShape="0">
              <a:srgbClr val="ffffff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CO" sz="1800" spc="-1" strike="noStrike">
              <a:solidFill>
                <a:schemeClr val="lt1"/>
              </a:solidFill>
              <a:latin typeface="Arial"/>
            </a:endParaRPr>
          </a:p>
        </p:txBody>
      </p:sp>
      <p:pic>
        <p:nvPicPr>
          <p:cNvPr id="124" name="Image 3" descr="preencoded.png"/>
          <p:cNvPicPr/>
          <p:nvPr/>
        </p:nvPicPr>
        <p:blipFill>
          <a:blip r:embed="rId4"/>
          <a:stretch/>
        </p:blipFill>
        <p:spPr>
          <a:xfrm>
            <a:off x="6317280" y="4880160"/>
            <a:ext cx="340920" cy="426600"/>
          </a:xfrm>
          <a:prstGeom prst="rect">
            <a:avLst/>
          </a:prstGeom>
          <a:ln w="0">
            <a:noFill/>
          </a:ln>
          <a:effectLst>
            <a:outerShdw blurRad="0" dir="2700000" dist="101823" rotWithShape="0">
              <a:srgbClr val="000000"/>
            </a:outerShdw>
          </a:effectLst>
        </p:spPr>
      </p:pic>
      <p:sp>
        <p:nvSpPr>
          <p:cNvPr id="125" name="Text 12"/>
          <p:cNvSpPr/>
          <p:nvPr/>
        </p:nvSpPr>
        <p:spPr>
          <a:xfrm>
            <a:off x="7571520" y="4924800"/>
            <a:ext cx="284976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801"/>
              </a:lnSpc>
              <a:tabLst>
                <a:tab algn="l" pos="0"/>
              </a:tabLst>
            </a:pPr>
            <a:r>
              <a:rPr b="1" lang="es-CO" sz="2200" spc="-1" strike="noStrike">
                <a:solidFill>
                  <a:srgbClr val="eeeff5"/>
                </a:solidFill>
                <a:latin typeface="comic"/>
                <a:ea typeface="Barlow Bold"/>
              </a:rPr>
              <a:t>Arrastrar Campos</a:t>
            </a:r>
            <a:endParaRPr b="0" lang="es-CO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 13"/>
          <p:cNvSpPr/>
          <p:nvPr/>
        </p:nvSpPr>
        <p:spPr>
          <a:xfrm>
            <a:off x="7571520" y="5410800"/>
            <a:ext cx="629928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701"/>
              </a:lnSpc>
              <a:tabLst>
                <a:tab algn="l" pos="0"/>
              </a:tabLst>
            </a:pPr>
            <a:r>
              <a:rPr b="0" lang="es-CO" sz="1700" spc="-1" strike="noStrike">
                <a:solidFill>
                  <a:srgbClr val="eeeff5"/>
                </a:solidFill>
                <a:latin typeface="Montserrat"/>
                <a:ea typeface="Montserrat"/>
              </a:rPr>
              <a:t>Arrastra las columnas de datos a los ejes X, Y y Leyenda.</a:t>
            </a:r>
            <a:endParaRPr b="0" lang="es-CO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Shape 14"/>
          <p:cNvSpPr/>
          <p:nvPr/>
        </p:nvSpPr>
        <p:spPr>
          <a:xfrm>
            <a:off x="6701760" y="6419160"/>
            <a:ext cx="648720" cy="29520"/>
          </a:xfrm>
          <a:prstGeom prst="roundRect">
            <a:avLst>
              <a:gd name="adj" fmla="val 639750"/>
            </a:avLst>
          </a:prstGeom>
          <a:solidFill>
            <a:srgbClr val="6064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3400" bIns="-23400" anchor="t">
            <a:noAutofit/>
          </a:bodyPr>
          <a:p>
            <a:pPr>
              <a:lnSpc>
                <a:spcPct val="100000"/>
              </a:lnSpc>
            </a:pPr>
            <a:endParaRPr b="0" lang="es-CO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128" name="Shape 15"/>
          <p:cNvSpPr/>
          <p:nvPr/>
        </p:nvSpPr>
        <p:spPr>
          <a:xfrm>
            <a:off x="6244560" y="6190920"/>
            <a:ext cx="486360" cy="486360"/>
          </a:xfrm>
          <a:prstGeom prst="roundRect">
            <a:avLst>
              <a:gd name="adj" fmla="val 40004"/>
            </a:avLst>
          </a:prstGeom>
          <a:solidFill>
            <a:srgbClr val="282c32"/>
          </a:solidFill>
          <a:ln w="0">
            <a:noFill/>
          </a:ln>
          <a:effectLst>
            <a:outerShdw algn="bl" blurRad="53280" dir="13500000" dist="26474" rotWithShape="0">
              <a:srgbClr val="ffffff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CO" sz="1800" spc="-1" strike="noStrike">
              <a:solidFill>
                <a:schemeClr val="lt1"/>
              </a:solidFill>
              <a:latin typeface="Arial"/>
            </a:endParaRPr>
          </a:p>
        </p:txBody>
      </p:sp>
      <p:pic>
        <p:nvPicPr>
          <p:cNvPr id="129" name="Image 4" descr="preencoded.png"/>
          <p:cNvPicPr/>
          <p:nvPr/>
        </p:nvPicPr>
        <p:blipFill>
          <a:blip r:embed="rId5"/>
          <a:stretch/>
        </p:blipFill>
        <p:spPr>
          <a:xfrm>
            <a:off x="6317280" y="6220800"/>
            <a:ext cx="340920" cy="426600"/>
          </a:xfrm>
          <a:prstGeom prst="rect">
            <a:avLst/>
          </a:prstGeom>
          <a:ln w="0">
            <a:noFill/>
          </a:ln>
          <a:effectLst>
            <a:outerShdw blurRad="0" dir="2700000" dist="101823" rotWithShape="0">
              <a:srgbClr val="000000"/>
            </a:outerShdw>
          </a:effectLst>
        </p:spPr>
      </p:pic>
      <p:sp>
        <p:nvSpPr>
          <p:cNvPr id="130" name="Text 16"/>
          <p:cNvSpPr/>
          <p:nvPr/>
        </p:nvSpPr>
        <p:spPr>
          <a:xfrm>
            <a:off x="7571520" y="6265080"/>
            <a:ext cx="284976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801"/>
              </a:lnSpc>
              <a:tabLst>
                <a:tab algn="l" pos="0"/>
              </a:tabLst>
            </a:pPr>
            <a:r>
              <a:rPr b="1" lang="es-CO" sz="2200" spc="-1" strike="noStrike">
                <a:solidFill>
                  <a:srgbClr val="eeeff5"/>
                </a:solidFill>
                <a:latin typeface="comic"/>
                <a:ea typeface="Barlow Bold"/>
              </a:rPr>
              <a:t>Formatear</a:t>
            </a:r>
            <a:endParaRPr b="0" lang="es-CO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 17"/>
          <p:cNvSpPr/>
          <p:nvPr/>
        </p:nvSpPr>
        <p:spPr>
          <a:xfrm>
            <a:off x="7571520" y="6751440"/>
            <a:ext cx="6299280" cy="69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701"/>
              </a:lnSpc>
              <a:tabLst>
                <a:tab algn="l" pos="0"/>
              </a:tabLst>
            </a:pPr>
            <a:r>
              <a:rPr b="0" lang="es-CO" sz="1700" spc="-1" strike="noStrike">
                <a:solidFill>
                  <a:srgbClr val="eeeff5"/>
                </a:solidFill>
                <a:latin typeface="Montserrat"/>
                <a:ea typeface="Montserrat"/>
              </a:rPr>
              <a:t>Usa el panel de formato para pulir la apariencia y añadir filtros.</a:t>
            </a:r>
            <a:endParaRPr b="0" lang="es-CO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CuadroTexto 24"/>
          <p:cNvSpPr/>
          <p:nvPr/>
        </p:nvSpPr>
        <p:spPr>
          <a:xfrm>
            <a:off x="5486400" y="7701480"/>
            <a:ext cx="9142920" cy="398160"/>
          </a:xfrm>
          <a:prstGeom prst="rect">
            <a:avLst/>
          </a:prstGeom>
          <a:solidFill>
            <a:srgbClr val="7030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s-CO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ext 0"/>
          <p:cNvSpPr/>
          <p:nvPr/>
        </p:nvSpPr>
        <p:spPr>
          <a:xfrm>
            <a:off x="758160" y="946800"/>
            <a:ext cx="5700600" cy="7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5601"/>
              </a:lnSpc>
              <a:tabLst>
                <a:tab algn="l" pos="0"/>
              </a:tabLst>
            </a:pPr>
            <a:r>
              <a:rPr b="1" lang="es-CO" sz="4450" spc="-1" strike="noStrike">
                <a:solidFill>
                  <a:srgbClr val="9998ff"/>
                </a:solidFill>
                <a:latin typeface="comic"/>
                <a:ea typeface="Barlow Bold"/>
              </a:rPr>
              <a:t>Ventajas Clave</a:t>
            </a:r>
            <a:endParaRPr b="0" lang="es-CO" sz="44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4" name="Image 0" descr="preencoded.png"/>
          <p:cNvPicPr/>
          <p:nvPr/>
        </p:nvPicPr>
        <p:blipFill>
          <a:blip r:embed="rId1"/>
          <a:stretch/>
        </p:blipFill>
        <p:spPr>
          <a:xfrm>
            <a:off x="2954880" y="2092680"/>
            <a:ext cx="2162520" cy="1265040"/>
          </a:xfrm>
          <a:prstGeom prst="rect">
            <a:avLst/>
          </a:prstGeom>
          <a:ln w="0">
            <a:noFill/>
          </a:ln>
          <a:effectLst>
            <a:outerShdw blurRad="0" dir="2700000" dist="101823" rotWithShape="0">
              <a:srgbClr val="000000"/>
            </a:outerShdw>
          </a:effectLst>
        </p:spPr>
      </p:pic>
      <p:pic>
        <p:nvPicPr>
          <p:cNvPr id="135" name="Image 1" descr="preencoded.png"/>
          <p:cNvPicPr/>
          <p:nvPr/>
        </p:nvPicPr>
        <p:blipFill>
          <a:blip r:embed="rId2"/>
          <a:stretch/>
        </p:blipFill>
        <p:spPr>
          <a:xfrm>
            <a:off x="3884040" y="2692800"/>
            <a:ext cx="303480" cy="379800"/>
          </a:xfrm>
          <a:prstGeom prst="rect">
            <a:avLst/>
          </a:prstGeom>
          <a:ln w="0">
            <a:noFill/>
          </a:ln>
          <a:effectLst>
            <a:outerShdw blurRad="0" dir="2700000" dist="101823" rotWithShape="0">
              <a:srgbClr val="000000"/>
            </a:outerShdw>
          </a:effectLst>
        </p:spPr>
      </p:pic>
      <p:sp>
        <p:nvSpPr>
          <p:cNvPr id="136" name="Text 1"/>
          <p:cNvSpPr/>
          <p:nvPr/>
        </p:nvSpPr>
        <p:spPr>
          <a:xfrm>
            <a:off x="5335200" y="2309400"/>
            <a:ext cx="284976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801"/>
              </a:lnSpc>
              <a:tabLst>
                <a:tab algn="l" pos="0"/>
              </a:tabLst>
            </a:pPr>
            <a:r>
              <a:rPr b="1" lang="es-CO" sz="2200" spc="-1" strike="noStrike">
                <a:solidFill>
                  <a:srgbClr val="eeeff5"/>
                </a:solidFill>
                <a:latin typeface="comic"/>
                <a:ea typeface="Barlow Bold"/>
              </a:rPr>
              <a:t>Claridad Visual</a:t>
            </a:r>
            <a:endParaRPr b="0" lang="es-CO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 2"/>
          <p:cNvSpPr/>
          <p:nvPr/>
        </p:nvSpPr>
        <p:spPr>
          <a:xfrm>
            <a:off x="5335200" y="2795400"/>
            <a:ext cx="356112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701"/>
              </a:lnSpc>
              <a:tabLst>
                <a:tab algn="l" pos="0"/>
              </a:tabLst>
            </a:pPr>
            <a:r>
              <a:rPr b="0" lang="es-CO" sz="1700" spc="-1" strike="noStrike">
                <a:solidFill>
                  <a:srgbClr val="eeeff5"/>
                </a:solidFill>
                <a:latin typeface="Montserrat"/>
                <a:ea typeface="Montserrat"/>
              </a:rPr>
              <a:t>Fácil de interpretar rápidamente.</a:t>
            </a:r>
            <a:endParaRPr b="0" lang="es-CO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Shape 3"/>
          <p:cNvSpPr/>
          <p:nvPr/>
        </p:nvSpPr>
        <p:spPr>
          <a:xfrm>
            <a:off x="5172480" y="3370680"/>
            <a:ext cx="8644320" cy="14040"/>
          </a:xfrm>
          <a:prstGeom prst="roundRect">
            <a:avLst>
              <a:gd name="adj" fmla="val 1279500"/>
            </a:avLst>
          </a:prstGeom>
          <a:solidFill>
            <a:srgbClr val="6064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4560" bIns="-34560" anchor="t">
            <a:noAutofit/>
          </a:bodyPr>
          <a:p>
            <a:pPr>
              <a:lnSpc>
                <a:spcPct val="100000"/>
              </a:lnSpc>
            </a:pPr>
            <a:endParaRPr b="0" lang="es-CO" sz="1800" spc="-1" strike="noStrike">
              <a:solidFill>
                <a:schemeClr val="lt1"/>
              </a:solidFill>
              <a:latin typeface="Arial"/>
            </a:endParaRPr>
          </a:p>
        </p:txBody>
      </p:sp>
      <p:pic>
        <p:nvPicPr>
          <p:cNvPr id="139" name="Image 2" descr="preencoded.png"/>
          <p:cNvPicPr/>
          <p:nvPr/>
        </p:nvPicPr>
        <p:blipFill>
          <a:blip r:embed="rId3"/>
          <a:stretch/>
        </p:blipFill>
        <p:spPr>
          <a:xfrm>
            <a:off x="1873080" y="3412800"/>
            <a:ext cx="4326480" cy="1265040"/>
          </a:xfrm>
          <a:prstGeom prst="rect">
            <a:avLst/>
          </a:prstGeom>
          <a:ln w="0">
            <a:noFill/>
          </a:ln>
          <a:effectLst>
            <a:outerShdw blurRad="0" dir="2700000" dist="101823" rotWithShape="0">
              <a:srgbClr val="000000"/>
            </a:outerShdw>
          </a:effectLst>
        </p:spPr>
      </p:pic>
      <p:pic>
        <p:nvPicPr>
          <p:cNvPr id="140" name="Image 3" descr="preencoded.png"/>
          <p:cNvPicPr/>
          <p:nvPr/>
        </p:nvPicPr>
        <p:blipFill>
          <a:blip r:embed="rId4"/>
          <a:stretch/>
        </p:blipFill>
        <p:spPr>
          <a:xfrm>
            <a:off x="3884400" y="3855240"/>
            <a:ext cx="303480" cy="379800"/>
          </a:xfrm>
          <a:prstGeom prst="rect">
            <a:avLst/>
          </a:prstGeom>
          <a:ln w="0">
            <a:noFill/>
          </a:ln>
          <a:effectLst>
            <a:outerShdw blurRad="0" dir="2700000" dist="101823" rotWithShape="0">
              <a:srgbClr val="000000"/>
            </a:outerShdw>
          </a:effectLst>
        </p:spPr>
      </p:pic>
      <p:sp>
        <p:nvSpPr>
          <p:cNvPr id="141" name="Text 4"/>
          <p:cNvSpPr/>
          <p:nvPr/>
        </p:nvSpPr>
        <p:spPr>
          <a:xfrm>
            <a:off x="6417000" y="3629520"/>
            <a:ext cx="284976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801"/>
              </a:lnSpc>
              <a:tabLst>
                <a:tab algn="l" pos="0"/>
              </a:tabLst>
            </a:pPr>
            <a:r>
              <a:rPr b="1" lang="es-CO" sz="2200" spc="-1" strike="noStrike">
                <a:solidFill>
                  <a:srgbClr val="eeeff5"/>
                </a:solidFill>
                <a:latin typeface="comic"/>
                <a:ea typeface="Barlow Bold"/>
              </a:rPr>
              <a:t>Comparación Sencilla</a:t>
            </a:r>
            <a:endParaRPr b="0" lang="es-CO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 5"/>
          <p:cNvSpPr/>
          <p:nvPr/>
        </p:nvSpPr>
        <p:spPr>
          <a:xfrm>
            <a:off x="6417000" y="4115520"/>
            <a:ext cx="517644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701"/>
              </a:lnSpc>
              <a:tabLst>
                <a:tab algn="l" pos="0"/>
              </a:tabLst>
            </a:pPr>
            <a:r>
              <a:rPr b="0" lang="es-CO" sz="1700" spc="-1" strike="noStrike">
                <a:solidFill>
                  <a:srgbClr val="eeeff5"/>
                </a:solidFill>
                <a:latin typeface="Montserrat"/>
                <a:ea typeface="Montserrat"/>
              </a:rPr>
              <a:t>Permite comparar contribuciones de un vistazo.</a:t>
            </a:r>
            <a:endParaRPr b="0" lang="es-CO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Shape 6"/>
          <p:cNvSpPr/>
          <p:nvPr/>
        </p:nvSpPr>
        <p:spPr>
          <a:xfrm>
            <a:off x="6254640" y="4690440"/>
            <a:ext cx="7562520" cy="14040"/>
          </a:xfrm>
          <a:prstGeom prst="roundRect">
            <a:avLst>
              <a:gd name="adj" fmla="val 1279500"/>
            </a:avLst>
          </a:prstGeom>
          <a:solidFill>
            <a:srgbClr val="6064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4560" bIns="-34560" anchor="t">
            <a:noAutofit/>
          </a:bodyPr>
          <a:p>
            <a:pPr>
              <a:lnSpc>
                <a:spcPct val="100000"/>
              </a:lnSpc>
            </a:pPr>
            <a:endParaRPr b="0" lang="es-CO" sz="1800" spc="-1" strike="noStrike">
              <a:solidFill>
                <a:schemeClr val="lt1"/>
              </a:solidFill>
              <a:latin typeface="Arial"/>
            </a:endParaRPr>
          </a:p>
        </p:txBody>
      </p:sp>
      <p:pic>
        <p:nvPicPr>
          <p:cNvPr id="144" name="Image 4" descr="preencoded.png"/>
          <p:cNvPicPr/>
          <p:nvPr/>
        </p:nvPicPr>
        <p:blipFill>
          <a:blip r:embed="rId5"/>
          <a:stretch/>
        </p:blipFill>
        <p:spPr>
          <a:xfrm>
            <a:off x="790920" y="4732920"/>
            <a:ext cx="6490080" cy="1265040"/>
          </a:xfrm>
          <a:prstGeom prst="rect">
            <a:avLst/>
          </a:prstGeom>
          <a:ln w="0">
            <a:noFill/>
          </a:ln>
          <a:effectLst>
            <a:outerShdw blurRad="0" dir="2700000" dist="101823" rotWithShape="0">
              <a:srgbClr val="000000"/>
            </a:outerShdw>
          </a:effectLst>
        </p:spPr>
      </p:pic>
      <p:pic>
        <p:nvPicPr>
          <p:cNvPr id="145" name="Image 5" descr="preencoded.png"/>
          <p:cNvPicPr/>
          <p:nvPr/>
        </p:nvPicPr>
        <p:blipFill>
          <a:blip r:embed="rId6"/>
          <a:stretch/>
        </p:blipFill>
        <p:spPr>
          <a:xfrm>
            <a:off x="3884400" y="5175360"/>
            <a:ext cx="303480" cy="379800"/>
          </a:xfrm>
          <a:prstGeom prst="rect">
            <a:avLst/>
          </a:prstGeom>
          <a:ln w="0">
            <a:noFill/>
          </a:ln>
          <a:effectLst>
            <a:outerShdw blurRad="0" dir="2700000" dist="101823" rotWithShape="0">
              <a:srgbClr val="000000"/>
            </a:outerShdw>
          </a:effectLst>
        </p:spPr>
      </p:pic>
      <p:sp>
        <p:nvSpPr>
          <p:cNvPr id="146" name="Text 7"/>
          <p:cNvSpPr/>
          <p:nvPr/>
        </p:nvSpPr>
        <p:spPr>
          <a:xfrm>
            <a:off x="7498800" y="4949280"/>
            <a:ext cx="284976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801"/>
              </a:lnSpc>
              <a:tabLst>
                <a:tab algn="l" pos="0"/>
              </a:tabLst>
            </a:pPr>
            <a:r>
              <a:rPr b="1" lang="es-CO" sz="2200" spc="-1" strike="noStrike">
                <a:solidFill>
                  <a:srgbClr val="eeeff5"/>
                </a:solidFill>
                <a:latin typeface="comic"/>
                <a:ea typeface="Barlow Bold"/>
              </a:rPr>
              <a:t>Efectividad</a:t>
            </a:r>
            <a:endParaRPr b="0" lang="es-CO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 8"/>
          <p:cNvSpPr/>
          <p:nvPr/>
        </p:nvSpPr>
        <p:spPr>
          <a:xfrm>
            <a:off x="7498800" y="5435640"/>
            <a:ext cx="55065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701"/>
              </a:lnSpc>
              <a:tabLst>
                <a:tab algn="l" pos="0"/>
              </a:tabLst>
            </a:pPr>
            <a:r>
              <a:rPr b="0" lang="es-CO" sz="1700" spc="-1" strike="noStrike">
                <a:solidFill>
                  <a:srgbClr val="eeeff5"/>
                </a:solidFill>
                <a:latin typeface="Montserrat"/>
                <a:ea typeface="Montserrat"/>
              </a:rPr>
              <a:t>Comunica información compleja de forma concisa.</a:t>
            </a:r>
            <a:endParaRPr b="0" lang="es-CO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 9"/>
          <p:cNvSpPr/>
          <p:nvPr/>
        </p:nvSpPr>
        <p:spPr>
          <a:xfrm>
            <a:off x="758160" y="6242400"/>
            <a:ext cx="13112640" cy="103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701"/>
              </a:lnSpc>
              <a:tabLst>
                <a:tab algn="l" pos="0"/>
              </a:tabLst>
            </a:pPr>
            <a:r>
              <a:rPr b="0" lang="es-CO" sz="1700" spc="-1" strike="noStrike">
                <a:solidFill>
                  <a:srgbClr val="eeeff5"/>
                </a:solidFill>
                <a:latin typeface="Montserrat"/>
                <a:ea typeface="Montserrat"/>
              </a:rPr>
              <a:t>Los gráficos de barras apiladas son una herramienta poderosa para simplificar la interpretación de datos complejos. Su diseño intuitivo y su capacidad para mostrar relaciones de parte a todo los convierten en una opción preferida para informes y presentaciones.</a:t>
            </a:r>
            <a:endParaRPr b="0" lang="es-CO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CuadroTexto 17"/>
          <p:cNvSpPr/>
          <p:nvPr/>
        </p:nvSpPr>
        <p:spPr>
          <a:xfrm>
            <a:off x="0" y="7701480"/>
            <a:ext cx="14629320" cy="398160"/>
          </a:xfrm>
          <a:prstGeom prst="rect">
            <a:avLst/>
          </a:prstGeom>
          <a:solidFill>
            <a:srgbClr val="7030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s-CO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5485320" cy="8228520"/>
          </a:xfrm>
          <a:prstGeom prst="rect">
            <a:avLst/>
          </a:prstGeom>
          <a:ln w="0">
            <a:noFill/>
          </a:ln>
          <a:effectLst>
            <a:outerShdw blurRad="0" dir="2700000" dist="101823" rotWithShape="0">
              <a:srgbClr val="000000"/>
            </a:outerShdw>
          </a:effectLst>
        </p:spPr>
      </p:pic>
      <p:sp>
        <p:nvSpPr>
          <p:cNvPr id="151" name="Text 0"/>
          <p:cNvSpPr/>
          <p:nvPr/>
        </p:nvSpPr>
        <p:spPr>
          <a:xfrm>
            <a:off x="6165000" y="750600"/>
            <a:ext cx="819396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5000"/>
              </a:lnSpc>
              <a:tabLst>
                <a:tab algn="l" pos="0"/>
              </a:tabLst>
            </a:pPr>
            <a:r>
              <a:rPr b="1" lang="es-CO" sz="4000" spc="-1" strike="noStrike">
                <a:solidFill>
                  <a:srgbClr val="9998ff"/>
                </a:solidFill>
                <a:latin typeface="comic"/>
                <a:ea typeface="Barlow Bold"/>
              </a:rPr>
              <a:t>Conclusiones y Próximos Pasos</a:t>
            </a:r>
            <a:endParaRPr b="0" lang="es-CO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1"/>
          <p:cNvSpPr/>
          <p:nvPr/>
        </p:nvSpPr>
        <p:spPr>
          <a:xfrm>
            <a:off x="6165000" y="1775880"/>
            <a:ext cx="374688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 defTabSz="914400">
              <a:lnSpc>
                <a:spcPts val="5000"/>
              </a:lnSpc>
              <a:tabLst>
                <a:tab algn="l" pos="0"/>
              </a:tabLst>
            </a:pPr>
            <a:r>
              <a:rPr b="1" lang="es-CO" sz="5000" spc="-1" strike="noStrike">
                <a:solidFill>
                  <a:srgbClr val="eeeff5"/>
                </a:solidFill>
                <a:latin typeface="comic"/>
                <a:ea typeface="Barlow Bold"/>
              </a:rPr>
              <a:t>1</a:t>
            </a:r>
            <a:endParaRPr b="0" lang="es-CO" sz="5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 2"/>
          <p:cNvSpPr/>
          <p:nvPr/>
        </p:nvSpPr>
        <p:spPr>
          <a:xfrm>
            <a:off x="6763320" y="2658240"/>
            <a:ext cx="255024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 defTabSz="914400">
              <a:lnSpc>
                <a:spcPts val="2500"/>
              </a:lnSpc>
              <a:tabLst>
                <a:tab algn="l" pos="0"/>
              </a:tabLst>
            </a:pPr>
            <a:r>
              <a:rPr b="1" lang="es-CO" sz="2000" spc="-1" strike="noStrike">
                <a:solidFill>
                  <a:srgbClr val="eeeff5"/>
                </a:solidFill>
                <a:latin typeface="comic"/>
                <a:ea typeface="Barlow Bold"/>
              </a:rPr>
              <a:t>Dominar el Diseño</a:t>
            </a:r>
            <a:endParaRPr b="0" lang="es-CO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 3"/>
          <p:cNvSpPr/>
          <p:nvPr/>
        </p:nvSpPr>
        <p:spPr>
          <a:xfrm>
            <a:off x="6165000" y="3093120"/>
            <a:ext cx="3746880" cy="61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401"/>
              </a:lnSpc>
              <a:tabLst>
                <a:tab algn="l" pos="0"/>
              </a:tabLst>
            </a:pPr>
            <a:r>
              <a:rPr b="0" lang="es-CO" sz="1500" spc="-1" strike="noStrike">
                <a:solidFill>
                  <a:srgbClr val="eeeff5"/>
                </a:solidFill>
                <a:latin typeface="Montserrat"/>
                <a:ea typeface="Montserrat"/>
              </a:rPr>
              <a:t>Aplica buenas prácticas para gráficos impactantes.</a:t>
            </a:r>
            <a:endParaRPr b="0" lang="es-CO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 4"/>
          <p:cNvSpPr/>
          <p:nvPr/>
        </p:nvSpPr>
        <p:spPr>
          <a:xfrm>
            <a:off x="10203840" y="1775880"/>
            <a:ext cx="374688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 defTabSz="914400">
              <a:lnSpc>
                <a:spcPts val="5000"/>
              </a:lnSpc>
              <a:tabLst>
                <a:tab algn="l" pos="0"/>
              </a:tabLst>
            </a:pPr>
            <a:r>
              <a:rPr b="1" lang="es-CO" sz="5000" spc="-1" strike="noStrike">
                <a:solidFill>
                  <a:srgbClr val="eeeff5"/>
                </a:solidFill>
                <a:latin typeface="comic"/>
                <a:ea typeface="Barlow Bold"/>
              </a:rPr>
              <a:t>2</a:t>
            </a:r>
            <a:endParaRPr b="0" lang="es-CO" sz="5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 5"/>
          <p:cNvSpPr/>
          <p:nvPr/>
        </p:nvSpPr>
        <p:spPr>
          <a:xfrm>
            <a:off x="10500840" y="2633760"/>
            <a:ext cx="315252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 defTabSz="914400">
              <a:lnSpc>
                <a:spcPts val="2500"/>
              </a:lnSpc>
              <a:tabLst>
                <a:tab algn="l" pos="0"/>
              </a:tabLst>
            </a:pPr>
            <a:r>
              <a:rPr b="1" lang="es-CO" sz="2000" spc="-1" strike="noStrike">
                <a:solidFill>
                  <a:srgbClr val="eeeff5"/>
                </a:solidFill>
                <a:latin typeface="comic"/>
                <a:ea typeface="Barlow Bold"/>
              </a:rPr>
              <a:t>Explorar Herramientas</a:t>
            </a:r>
            <a:endParaRPr b="0" lang="es-CO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6"/>
          <p:cNvSpPr/>
          <p:nvPr/>
        </p:nvSpPr>
        <p:spPr>
          <a:xfrm>
            <a:off x="10203840" y="3093120"/>
            <a:ext cx="3746880" cy="61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401"/>
              </a:lnSpc>
              <a:tabLst>
                <a:tab algn="l" pos="0"/>
              </a:tabLst>
            </a:pPr>
            <a:r>
              <a:rPr b="0" lang="es-CO" sz="1500" spc="-1" strike="noStrike">
                <a:solidFill>
                  <a:srgbClr val="eeeff5"/>
                </a:solidFill>
                <a:latin typeface="Montserrat"/>
                <a:ea typeface="Montserrat"/>
              </a:rPr>
              <a:t>Practica en Excel y Power BI para mejorar tus habilidades.</a:t>
            </a:r>
            <a:endParaRPr b="0" lang="es-CO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 7"/>
          <p:cNvSpPr/>
          <p:nvPr/>
        </p:nvSpPr>
        <p:spPr>
          <a:xfrm>
            <a:off x="8184240" y="4392360"/>
            <a:ext cx="374688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 defTabSz="914400">
              <a:lnSpc>
                <a:spcPts val="5000"/>
              </a:lnSpc>
              <a:tabLst>
                <a:tab algn="l" pos="0"/>
              </a:tabLst>
            </a:pPr>
            <a:r>
              <a:rPr b="1" lang="es-CO" sz="5000" spc="-1" strike="noStrike">
                <a:solidFill>
                  <a:srgbClr val="eeeff5"/>
                </a:solidFill>
                <a:latin typeface="comic"/>
                <a:ea typeface="Barlow Bold"/>
              </a:rPr>
              <a:t>3</a:t>
            </a:r>
            <a:endParaRPr b="0" lang="es-CO" sz="5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 8"/>
          <p:cNvSpPr/>
          <p:nvPr/>
        </p:nvSpPr>
        <p:spPr>
          <a:xfrm>
            <a:off x="8782560" y="5274360"/>
            <a:ext cx="255024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 defTabSz="914400">
              <a:lnSpc>
                <a:spcPts val="2500"/>
              </a:lnSpc>
              <a:tabLst>
                <a:tab algn="l" pos="0"/>
              </a:tabLst>
            </a:pPr>
            <a:r>
              <a:rPr b="1" lang="es-CO" sz="2000" spc="-1" strike="noStrike">
                <a:solidFill>
                  <a:srgbClr val="eeeff5"/>
                </a:solidFill>
                <a:latin typeface="comic"/>
                <a:ea typeface="Barlow Bold"/>
              </a:rPr>
              <a:t>Contar Historias</a:t>
            </a:r>
            <a:endParaRPr b="0" lang="es-CO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 9"/>
          <p:cNvSpPr/>
          <p:nvPr/>
        </p:nvSpPr>
        <p:spPr>
          <a:xfrm>
            <a:off x="8184240" y="5709600"/>
            <a:ext cx="3746880" cy="61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401"/>
              </a:lnSpc>
              <a:tabLst>
                <a:tab algn="l" pos="0"/>
              </a:tabLst>
            </a:pPr>
            <a:r>
              <a:rPr b="0" lang="es-CO" sz="1500" spc="-1" strike="noStrike">
                <a:solidFill>
                  <a:srgbClr val="eeeff5"/>
                </a:solidFill>
                <a:latin typeface="Montserrat"/>
                <a:ea typeface="Montserrat"/>
              </a:rPr>
              <a:t>Usa gráficos para narrar tus datos eficazmente.</a:t>
            </a:r>
            <a:endParaRPr b="0" lang="es-CO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 10"/>
          <p:cNvSpPr/>
          <p:nvPr/>
        </p:nvSpPr>
        <p:spPr>
          <a:xfrm>
            <a:off x="6165000" y="6548400"/>
            <a:ext cx="7785720" cy="92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0" lang="es-CO" sz="1500" spc="-1" strike="noStrike">
                <a:solidFill>
                  <a:srgbClr val="eeeff5"/>
                </a:solidFill>
                <a:latin typeface="Montserrat"/>
                <a:ea typeface="Montserrat"/>
              </a:rPr>
              <a:t>Los gráficos de barras apiladas son esenciales para cualquier profesional que trabaje con datos. Te invitamos a seguir explorando y aplicando estas técnicas para potenciar tus habilidades de visualización.</a:t>
            </a:r>
            <a:endParaRPr b="0" lang="es-CO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CuadroTexto 13"/>
          <p:cNvSpPr/>
          <p:nvPr/>
        </p:nvSpPr>
        <p:spPr>
          <a:xfrm>
            <a:off x="5580000" y="7701480"/>
            <a:ext cx="9049320" cy="398160"/>
          </a:xfrm>
          <a:prstGeom prst="rect">
            <a:avLst/>
          </a:prstGeom>
          <a:solidFill>
            <a:srgbClr val="7030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s-CO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CuadroTexto 4"/>
          <p:cNvSpPr/>
          <p:nvPr/>
        </p:nvSpPr>
        <p:spPr>
          <a:xfrm>
            <a:off x="0" y="7701480"/>
            <a:ext cx="14629320" cy="398160"/>
          </a:xfrm>
          <a:prstGeom prst="rect">
            <a:avLst/>
          </a:prstGeom>
          <a:solidFill>
            <a:srgbClr val="7030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s-CO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4" name="Text 14"/>
          <p:cNvSpPr/>
          <p:nvPr/>
        </p:nvSpPr>
        <p:spPr>
          <a:xfrm>
            <a:off x="720000" y="2811600"/>
            <a:ext cx="13139280" cy="276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ts val="5000"/>
              </a:lnSpc>
              <a:tabLst>
                <a:tab algn="l" pos="0"/>
              </a:tabLst>
            </a:pPr>
            <a:r>
              <a:rPr b="1" lang="es-CO" sz="8800" spc="-1" strike="noStrike">
                <a:solidFill>
                  <a:srgbClr val="9998ff"/>
                </a:solidFill>
                <a:latin typeface="comic"/>
                <a:ea typeface="Barlow Bold"/>
              </a:rPr>
              <a:t>¡Gracias!</a:t>
            </a:r>
            <a:endParaRPr b="0" lang="es-CO" sz="8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</TotalTime>
  <Application>LibreOffice/24.2.7.2$Linux_X86_64 LibreOffice_project/420$Build-2</Application>
  <AppVersion>15.0000</AppVersion>
  <Words>493</Words>
  <Paragraphs>75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2025-05-24T15:55:02Z</dcterms:created>
  <dc:creator>PptxGenJS</dc:creator>
  <dc:description/>
  <dc:language>es-ES</dc:language>
  <cp:lastModifiedBy/>
  <dcterms:modified xsi:type="dcterms:W3CDTF">2025-05-27T18:33:29Z</dcterms:modified>
  <cp:revision>12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8</vt:i4>
  </property>
  <property fmtid="{D5CDD505-2E9C-101B-9397-08002B2CF9AE}" pid="3" name="PresentationFormat">
    <vt:lpwstr>Personalizado</vt:lpwstr>
  </property>
  <property fmtid="{D5CDD505-2E9C-101B-9397-08002B2CF9AE}" pid="4" name="Slides">
    <vt:i4>10</vt:i4>
  </property>
</Properties>
</file>